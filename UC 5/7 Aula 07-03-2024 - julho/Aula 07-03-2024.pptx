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3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759" r:id="rId2"/>
    <p:sldId id="926" r:id="rId3"/>
    <p:sldId id="1065" r:id="rId4"/>
    <p:sldId id="1068" r:id="rId5"/>
    <p:sldId id="1069" r:id="rId6"/>
    <p:sldId id="942" r:id="rId7"/>
    <p:sldId id="957" r:id="rId8"/>
    <p:sldId id="1078" r:id="rId9"/>
    <p:sldId id="1080" r:id="rId10"/>
    <p:sldId id="952" r:id="rId11"/>
    <p:sldId id="1083" r:id="rId12"/>
    <p:sldId id="1085" r:id="rId13"/>
    <p:sldId id="1086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65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C4B89-63A7-48D9-B378-26E360245495}" type="datetimeFigureOut">
              <a:rPr lang="pt-BR" smtClean="0"/>
              <a:t>07/03/2024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F4722C-54DF-4296-9672-50FF604D17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1425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 b="0"/>
              <a:t>3 -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Protocolos e modelos</a:t>
            </a:r>
          </a:p>
          <a:p>
            <a:pPr rtl="0">
              <a:buFontTx/>
              <a:buNone/>
            </a:pPr>
            <a:r>
              <a:rPr lang="pt-BR" sz="1200" b="0"/>
              <a:t>3.1 — Regras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 rtl="0"/>
              <a:t>2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 sz="1200" b="0"/>
              <a:t>3 -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Protocolos e modelos</a:t>
            </a:r>
          </a:p>
          <a:p>
            <a:pPr rtl="0">
              <a:buFontTx/>
              <a:buNone/>
            </a:pPr>
            <a:r>
              <a:rPr lang="pt-BR" sz="1200" b="0"/>
              <a:t>3.1 — Regras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3.1.2</a:t>
            </a:r>
            <a:r>
              <a:rPr lang="pt-BR" baseline="0">
                <a:latin typeface="Arial" charset="0"/>
              </a:rPr>
              <a:t> </a:t>
            </a:r>
            <a:r>
              <a:rPr lang="pt-BR" sz="1200" b="0"/>
              <a:t>–</a:t>
            </a:r>
            <a:r>
              <a:rPr lang="pt-BR"/>
              <a:t>Fundamentos das comunicações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 rtl="0"/>
              <a:t>3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 sz="1200" b="0"/>
              <a:t>3 -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Protocolos e modelos</a:t>
            </a:r>
          </a:p>
          <a:p>
            <a:pPr rtl="0">
              <a:buFontTx/>
              <a:buNone/>
            </a:pPr>
            <a:r>
              <a:rPr lang="pt-BR" sz="1200" b="0"/>
              <a:t>3.1 — Regras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3.1.8 </a:t>
            </a:r>
            <a:r>
              <a:rPr lang="pt-BR" baseline="0">
                <a:latin typeface="Arial" charset="0"/>
              </a:rPr>
              <a:t> </a:t>
            </a:r>
            <a:r>
              <a:rPr lang="pt-BR" sz="1200" b="0"/>
              <a:t>-</a:t>
            </a:r>
            <a:r>
              <a:rPr lang="pt-BR"/>
              <a:t>Tamanho da Mensagem</a:t>
            </a:r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 rtl="0"/>
              <a:t>4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 sz="1200" b="0"/>
              <a:t>3 -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Protocolos e modelos</a:t>
            </a:r>
          </a:p>
          <a:p>
            <a:pPr rtl="0">
              <a:buFontTx/>
              <a:buNone/>
            </a:pPr>
            <a:r>
              <a:rPr lang="pt-BR" sz="1200" b="0"/>
              <a:t>3.1 — Regras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baseline="0">
                <a:latin typeface="Arial" charset="0"/>
              </a:rPr>
              <a:t> </a:t>
            </a:r>
            <a:r>
              <a:rPr lang="pt-BR" sz="1200" b="0"/>
              <a:t>3.1.10 – </a:t>
            </a:r>
            <a:r>
              <a:rPr lang="pt-BR"/>
              <a:t>Opções de entrega de mensagem</a:t>
            </a:r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 rtl="0"/>
              <a:t>5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 sz="1200" b="0"/>
              <a:t>3 -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Protocolos e modelos</a:t>
            </a:r>
          </a:p>
          <a:p>
            <a:pPr rtl="0">
              <a:buFontTx/>
              <a:buNone/>
            </a:pPr>
            <a:r>
              <a:rPr lang="pt-BR" sz="1200" b="0"/>
              <a:t>3.1 — Regras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3.1.11</a:t>
            </a:r>
            <a:r>
              <a:rPr lang="pt-BR" baseline="0">
                <a:latin typeface="Arial" charset="0"/>
              </a:rPr>
              <a:t> </a:t>
            </a:r>
            <a:r>
              <a:rPr lang="pt-BR" sz="1200" b="0"/>
              <a:t>— </a:t>
            </a:r>
            <a:r>
              <a:rPr lang="pt-BR"/>
              <a:t>Uma Nota Sobre o Ícone do Nó 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3.1.12 </a:t>
            </a:r>
            <a:r>
              <a:rPr lang="pt-BR" sz="1200">
                <a:effectLst/>
              </a:rPr>
              <a:t>— Verifique o seu entendimento — As regras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 b="0"/>
              <a:t>3 -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Protocolos e modelos</a:t>
            </a:r>
          </a:p>
          <a:p>
            <a:pPr rtl="0">
              <a:buFontTx/>
              <a:buNone/>
            </a:pPr>
            <a:r>
              <a:rPr lang="pt-BR" sz="1200" b="0"/>
              <a:t>3.4 </a:t>
            </a:r>
            <a:r>
              <a:rPr lang="pt-BR" sz="1200" b="0" baseline="0"/>
              <a:t>Empresas</a:t>
            </a:r>
            <a:r>
              <a:rPr lang="pt-BR" sz="1200" b="0"/>
              <a:t> de padrões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6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 b="0"/>
              <a:t>3 -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Protocolos e modelos</a:t>
            </a:r>
          </a:p>
          <a:p>
            <a:pPr rtl="0">
              <a:buFontTx/>
              <a:buNone/>
            </a:pPr>
            <a:r>
              <a:rPr lang="pt-BR" sz="1200" b="0"/>
              <a:t>3.4 </a:t>
            </a:r>
            <a:r>
              <a:rPr lang="pt-BR" sz="1200" b="0" baseline="0"/>
              <a:t>Empresas</a:t>
            </a:r>
            <a:r>
              <a:rPr lang="pt-BR" sz="1200" b="0"/>
              <a:t> de padrões</a:t>
            </a:r>
          </a:p>
          <a:p>
            <a:pPr rtl="0"/>
            <a:r>
              <a:rPr lang="pt-BR"/>
              <a:t>3.4.1</a:t>
            </a:r>
            <a:r>
              <a:rPr lang="pt-BR" baseline="0"/>
              <a:t> -Padrões Abertos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7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 b="0"/>
              <a:t>3 -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Protocolos e modelos</a:t>
            </a:r>
          </a:p>
          <a:p>
            <a:pPr rtl="0">
              <a:buFontTx/>
              <a:buNone/>
            </a:pPr>
            <a:r>
              <a:rPr lang="pt-BR" sz="1200" b="0"/>
              <a:t>3.4 </a:t>
            </a:r>
            <a:r>
              <a:rPr lang="pt-BR" sz="1200" b="0" baseline="0"/>
              <a:t>Empresas</a:t>
            </a:r>
            <a:r>
              <a:rPr lang="pt-BR" sz="1200" b="0"/>
              <a:t> de padrões</a:t>
            </a:r>
          </a:p>
          <a:p>
            <a:pPr rtl="0"/>
            <a:r>
              <a:rPr lang="pt-BR"/>
              <a:t>3.4.2 – </a:t>
            </a:r>
            <a:r>
              <a:rPr lang="pt-BR" baseline="0"/>
              <a:t>Padrões da Internet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8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 b="0"/>
              <a:t>3 -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Protocolos e modelos</a:t>
            </a:r>
          </a:p>
          <a:p>
            <a:pPr rtl="0">
              <a:buFontTx/>
              <a:buNone/>
            </a:pPr>
            <a:r>
              <a:rPr lang="pt-BR" sz="1200" b="0"/>
              <a:t>3.4 </a:t>
            </a:r>
            <a:r>
              <a:rPr lang="pt-BR" sz="1200" b="0" baseline="0"/>
              <a:t>Empresas</a:t>
            </a:r>
            <a:r>
              <a:rPr lang="pt-BR" sz="1200" b="0"/>
              <a:t> de padrões</a:t>
            </a:r>
          </a:p>
          <a:p>
            <a:pPr rtl="0"/>
            <a:r>
              <a:rPr lang="pt-BR"/>
              <a:t>3.4.2</a:t>
            </a:r>
            <a:r>
              <a:rPr lang="pt-BR" baseline="0"/>
              <a:t> - Padrões da Internet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9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 b="0"/>
              <a:t>3 -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Protocolos e modelos</a:t>
            </a:r>
          </a:p>
          <a:p>
            <a:pPr rtl="0">
              <a:buFontTx/>
              <a:buNone/>
            </a:pPr>
            <a:r>
              <a:rPr lang="pt-BR" sz="1200" b="0"/>
              <a:t>3.5 Modelos de referência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10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 b="0"/>
              <a:t>3 -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Protocolos e modelos</a:t>
            </a:r>
          </a:p>
          <a:p>
            <a:pPr rtl="0">
              <a:buFontTx/>
              <a:buNone/>
            </a:pPr>
            <a:r>
              <a:rPr lang="pt-BR" sz="1200" b="0"/>
              <a:t>3.5 Modelos de referência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3.5.2 – </a:t>
            </a:r>
            <a:r>
              <a:rPr lang="pt-BR" sz="1200"/>
              <a:t>O modelo de referência OSI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11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 b="0"/>
              <a:t>3 -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Protocolos e modelos</a:t>
            </a:r>
          </a:p>
          <a:p>
            <a:pPr rtl="0">
              <a:buFontTx/>
              <a:buNone/>
            </a:pPr>
            <a:r>
              <a:rPr lang="pt-BR" sz="1200" b="0"/>
              <a:t>3.5 Modelos de referência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3.5.3 - </a:t>
            </a:r>
            <a:r>
              <a:rPr lang="pt-BR" sz="1200"/>
              <a:t>Modelo de referência TCP / 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12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 b="0"/>
              <a:t>3 -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Protocolos e modelos</a:t>
            </a:r>
          </a:p>
          <a:p>
            <a:pPr rtl="0">
              <a:buFontTx/>
              <a:buNone/>
            </a:pPr>
            <a:r>
              <a:rPr lang="pt-BR" sz="1200" b="0"/>
              <a:t>3.5 Modelos de referência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3.5.4 - </a:t>
            </a:r>
            <a:r>
              <a:rPr lang="pt-BR"/>
              <a:t>Comparação de modelos OSI e TCP / 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13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C15353-EA72-3178-C50F-FC849517AF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DAD923-3F87-94D4-6AA6-EDB7AADEF4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A399AE-6D7B-580D-4DAD-4497C0555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80C84-BDD4-48F9-A914-3BB03EC4CD68}" type="datetimeFigureOut">
              <a:rPr lang="pt-BR" smtClean="0"/>
              <a:t>07/03/2024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735BC2-C055-F023-22B7-021A8BC83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8B2D81-0E7F-95E3-C300-BF7E22F21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D69E0-D2E6-491C-9BD6-8A8B5CDC15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3755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E30E92-FF96-87EF-73DA-91A0E92FB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1353EA-4B02-6F17-495C-BD46FE370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450DB1-9E3F-3AD6-9656-F49CA79E6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80C84-BDD4-48F9-A914-3BB03EC4CD68}" type="datetimeFigureOut">
              <a:rPr lang="pt-BR" smtClean="0"/>
              <a:t>07/03/2024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B2507B-A1D8-A23D-72FB-6E058BB8C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A6DC33-DCB8-7957-3D0B-B7860CDB3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D69E0-D2E6-491C-9BD6-8A8B5CDC15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6171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49B561-D896-CD79-82E8-CFD79698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4E4BB9-20A3-4050-3853-08180ACDC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1687F1-D0AD-4F12-28E6-1EF1AB912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80C84-BDD4-48F9-A914-3BB03EC4CD68}" type="datetimeFigureOut">
              <a:rPr lang="pt-BR" smtClean="0"/>
              <a:t>07/03/2024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FB8D03-BE94-69DB-464C-3AD889814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5DF9F9-E7E9-E7CE-21B5-8CBC4F71C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D69E0-D2E6-491C-9BD6-8A8B5CDC15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5002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D0F66F-9D6C-2E95-3AE0-3322F4946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8AB5CC-F857-9565-6E53-AEAA29806F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80F98D6-8931-6420-D57B-FF1020E9D7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A2249B2-6A62-BAC5-FCC0-29C900BBF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80C84-BDD4-48F9-A914-3BB03EC4CD68}" type="datetimeFigureOut">
              <a:rPr lang="pt-BR" smtClean="0"/>
              <a:t>07/03/2024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69FB9EC-0029-1141-C4F3-DBDE0DBD1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B69EC9-9E6B-E609-6E5D-D18F76D68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D69E0-D2E6-491C-9BD6-8A8B5CDC15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8581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66FF6-8A8D-4A06-5B83-1792292B3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8D3E951-59AB-5C09-355C-9D1659739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1E18091-C804-F5D3-C201-6F85E181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2EEF9B4-C540-F7CC-6CA0-B545A5B2BA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94ABFCF-2DAE-CB6A-1EF4-C5775D9742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7F0331D-5509-89FB-2E0E-44BFB8F38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80C84-BDD4-48F9-A914-3BB03EC4CD68}" type="datetimeFigureOut">
              <a:rPr lang="pt-BR" smtClean="0"/>
              <a:t>07/03/2024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78CE618-EA8F-06AD-81AB-FAAC916EA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CC7ADBB-DDA3-9E21-A383-6A75905F2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D69E0-D2E6-491C-9BD6-8A8B5CDC15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3045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8AAA5E-2F6D-BF12-FD4F-6D79FB486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5F03E81-8E07-6747-834E-04E7E0396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80C84-BDD4-48F9-A914-3BB03EC4CD68}" type="datetimeFigureOut">
              <a:rPr lang="pt-BR" smtClean="0"/>
              <a:t>07/03/2024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7AD6B8C-A6E7-C3DE-47A2-51DD09E62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4E2BC27-6F05-C7F5-3DB9-070AB110A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D69E0-D2E6-491C-9BD6-8A8B5CDC15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4995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B13ADFA-99C3-439E-0985-84A764D34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80C84-BDD4-48F9-A914-3BB03EC4CD68}" type="datetimeFigureOut">
              <a:rPr lang="pt-BR" smtClean="0"/>
              <a:t>07/03/2024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FEDB958-D907-B1DB-F1A3-B8B5711A4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01D777-C48C-ECE8-2A47-136EEF2B9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D69E0-D2E6-491C-9BD6-8A8B5CDC15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9118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15B8C4-FC17-FBDC-00F9-4F06A6A27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EA13F2-A192-27CD-209D-514DD5D3F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74DCA76-45D8-E4B1-89E5-593DC8200F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470793-C8F2-9CDE-48A7-980A7682F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80C84-BDD4-48F9-A914-3BB03EC4CD68}" type="datetimeFigureOut">
              <a:rPr lang="pt-BR" smtClean="0"/>
              <a:t>07/03/2024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C726712-D917-9E6C-5895-F174A0647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7537474-F650-8EC2-12CC-DED4069E6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D69E0-D2E6-491C-9BD6-8A8B5CDC15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75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64CC69-1280-C23E-6B9F-E8B64E981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2D7CC97-20B4-6977-A984-903818FF9C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E708ACD-BF26-2EB0-1156-1D5C2FFA1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B5417A1-99AD-89A7-F1DC-6E9A58B44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80C84-BDD4-48F9-A914-3BB03EC4CD68}" type="datetimeFigureOut">
              <a:rPr lang="pt-BR" smtClean="0"/>
              <a:t>07/03/2024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36A5611-2BDE-4242-06D6-8325306D1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9F70E4C-7665-23D0-8B1B-24E95EB15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D69E0-D2E6-491C-9BD6-8A8B5CDC15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2883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214FAC-ACC2-DF9E-4A0E-57A5E67C2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0EC7956-065A-6463-74A0-09DE5FA71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0C3895-034F-B972-32DA-5DB425991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80C84-BDD4-48F9-A914-3BB03EC4CD68}" type="datetimeFigureOut">
              <a:rPr lang="pt-BR" smtClean="0"/>
              <a:t>07/03/2024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C24ABB-499F-5C91-C42A-FCB05C79E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6FDAE6-137E-4A53-E60E-1C2905C6C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D69E0-D2E6-491C-9BD6-8A8B5CDC15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4037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7998B75-801C-5F7D-C5AE-28E8672981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BCFDB11-FC88-4129-D251-AAE8068A6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D36CDC-7838-0B7E-7BB7-98276E4FE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80C84-BDD4-48F9-A914-3BB03EC4CD68}" type="datetimeFigureOut">
              <a:rPr lang="pt-BR" smtClean="0"/>
              <a:t>07/03/2024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750A3F-31ED-B97E-2FB5-596EEA905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742A2E-8F65-4CF4-0DE7-A3E5F336F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D69E0-D2E6-491C-9BD6-8A8B5CDC15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0697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297921" y="6605684"/>
            <a:ext cx="902547" cy="252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defTabSz="514338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514338">
                <a:defRPr/>
              </a:pPr>
              <a:t>‹nº›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92087" y="1065260"/>
            <a:ext cx="11804381" cy="55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226478" indent="-22647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 dirty="0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dirty="0">
                <a:sym typeface="Arial" pitchFamily="34" charset="0"/>
              </a:rPr>
              <a:t>Second level</a:t>
            </a:r>
          </a:p>
          <a:p>
            <a:pPr lvl="2"/>
            <a:r>
              <a:rPr lang="en-US" dirty="0">
                <a:sym typeface="Arial" pitchFamily="34" charset="0"/>
              </a:rPr>
              <a:t>Third level</a:t>
            </a:r>
          </a:p>
          <a:p>
            <a:pPr lvl="3"/>
            <a:r>
              <a:rPr lang="en-US" dirty="0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55191"/>
            <a:ext cx="12192000" cy="1010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3200"/>
            </a:lvl1pPr>
          </a:lstStyle>
          <a:p>
            <a:pPr lvl="0"/>
            <a:r>
              <a:rPr lang="en-US" dirty="0">
                <a:sym typeface="Arial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3153001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555233" y="1220545"/>
            <a:ext cx="10130723" cy="342659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6133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11311347" y="6323876"/>
            <a:ext cx="334149" cy="206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15" tIns="41056" rIns="82115" bIns="41056" anchor="b">
            <a:spAutoFit/>
          </a:bodyPr>
          <a:lstStyle/>
          <a:p>
            <a:pPr algn="r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8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814305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sz="8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7823344" y="6199094"/>
            <a:ext cx="3544024" cy="329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115" tIns="41056" rIns="82115" bIns="41056" anchor="b">
            <a:spAutoFit/>
          </a:bodyPr>
          <a:lstStyle/>
          <a:p>
            <a:pPr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8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Confidencial da Cisco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677386" y="6286929"/>
            <a:ext cx="453676" cy="241299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56565305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F1997A7-AA8B-13BC-B98D-441932541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00137B-0BD6-BE26-6262-F1C5F79C4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226A1C-E1EC-F22E-2710-A17A3ACE72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80C84-BDD4-48F9-A914-3BB03EC4CD68}" type="datetimeFigureOut">
              <a:rPr lang="pt-BR" smtClean="0"/>
              <a:t>07/03/2024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959F98-817B-6A75-5E91-4CDF3F1B1D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6DF2FF-531F-6B1B-9564-F349A9B12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D69E0-D2E6-491C-9BD6-8A8B5CDC15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0873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5233" y="1220546"/>
            <a:ext cx="10130723" cy="2403188"/>
          </a:xfrm>
        </p:spPr>
        <p:txBody>
          <a:bodyPr/>
          <a:lstStyle/>
          <a:p>
            <a:pPr rtl="0"/>
            <a:r>
              <a:rPr lang="pt-BR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As Regras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0"/>
            <a:br>
              <a:rPr lang="en-US" altLang="en-US" dirty="0"/>
            </a:br>
            <a:r>
              <a:rPr lang="pt-BR"/>
              <a:t>As regras </a:t>
            </a:r>
            <a:r>
              <a:rPr lang="pt-BR" sz="2133"/>
              <a:t>Princípios da comunicação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66146" y="1207932"/>
            <a:ext cx="11804381" cy="3300568"/>
          </a:xfrm>
        </p:spPr>
        <p:txBody>
          <a:bodyPr/>
          <a:lstStyle/>
          <a:p>
            <a:pPr marL="0" indent="0">
              <a:buNone/>
            </a:pPr>
            <a:r>
              <a:rPr lang="pt-BR" sz="2400"/>
              <a:t>As redes podem variar em tamanho e complexidade. Não é suficiente ter uma conexão, os dispositivos devem concordar em “como” se comunicar.</a:t>
            </a:r>
          </a:p>
          <a:p>
            <a:pPr marL="0" indent="0">
              <a:buNone/>
            </a:pPr>
            <a:r>
              <a:rPr lang="pt-BR" sz="2400"/>
              <a:t>Há três elementos para qualquer comunicação:</a:t>
            </a:r>
          </a:p>
          <a:p>
            <a:pPr lvl="1" rtl="0"/>
            <a:r>
              <a:rPr lang="pt-BR"/>
              <a:t>Haverá uma fonte (remetente).</a:t>
            </a:r>
          </a:p>
          <a:p>
            <a:pPr lvl="1" rtl="0"/>
            <a:r>
              <a:rPr lang="pt-BR"/>
              <a:t>Haverá um destino (receptor).</a:t>
            </a:r>
          </a:p>
          <a:p>
            <a:pPr lvl="1" rtl="0"/>
            <a:r>
              <a:rPr lang="pt-BR"/>
              <a:t>Haverá um canal (mídia) que prevê o caminho das comunicações para ocorrer.</a:t>
            </a:r>
          </a:p>
          <a:p>
            <a:pPr lvl="1"/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29212767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0"/>
            <a:br>
              <a:rPr lang="en-US" altLang="en-US" dirty="0"/>
            </a:br>
            <a:r>
              <a:rPr lang="pt-BR"/>
              <a:t>As regras </a:t>
            </a:r>
            <a:r>
              <a:rPr lang="pt-BR" sz="2133"/>
              <a:t>Tamanho da mensagem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66146" y="1192098"/>
            <a:ext cx="11804381" cy="173011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2133"/>
              <a:t>A codificação entre hosts deve estar em um formato adequado para o meio físico.</a:t>
            </a:r>
          </a:p>
          <a:p>
            <a:pPr lvl="1" rtl="0"/>
            <a:r>
              <a:rPr lang="pt-BR" sz="2133"/>
              <a:t>As mensagens enviadas pela rede são convertidas em bits</a:t>
            </a:r>
          </a:p>
          <a:p>
            <a:pPr lvl="1" rtl="0"/>
            <a:r>
              <a:rPr lang="pt-BR" sz="2133"/>
              <a:t>Os bits são codificados em um padrão de luz, som ou impulsos elétricos.</a:t>
            </a:r>
          </a:p>
          <a:p>
            <a:pPr lvl="1" rtl="0"/>
            <a:r>
              <a:rPr lang="pt-BR" sz="2133"/>
              <a:t>O host de destino deve decodificar os sinais para interpretar a mensagem.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904" y="3232304"/>
            <a:ext cx="3823608" cy="2392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482" y="3232303"/>
            <a:ext cx="3625407" cy="2342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7521122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2133"/>
              <a:t>As regras </a:t>
            </a:r>
            <a:br>
              <a:rPr lang="en-US" altLang="en-US" dirty="0"/>
            </a:br>
            <a:r>
              <a:rPr lang="pt-BR"/>
              <a:t>Opções de entrega da mensagem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93810" y="1065259"/>
            <a:ext cx="11804381" cy="300363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2133"/>
              <a:t>A entrega de mensagens pode ser um dos seguintes métodos: </a:t>
            </a:r>
          </a:p>
          <a:p>
            <a:pPr lvl="1" rtl="0"/>
            <a:r>
              <a:rPr lang="pt-BR" sz="2133" b="1"/>
              <a:t>Unicast – </a:t>
            </a:r>
            <a:r>
              <a:rPr lang="pt-BR" sz="2133"/>
              <a:t>comunicação um para um.</a:t>
            </a:r>
          </a:p>
          <a:p>
            <a:pPr lvl="1" rtl="0"/>
            <a:r>
              <a:rPr lang="pt-BR" sz="2133" b="1"/>
              <a:t>Multicast —</a:t>
            </a:r>
            <a:r>
              <a:rPr lang="pt-BR" sz="2133"/>
              <a:t> um para muitos, geralmente não todos</a:t>
            </a:r>
          </a:p>
          <a:p>
            <a:pPr lvl="1" rtl="0"/>
            <a:r>
              <a:rPr lang="pt-BR" sz="2133" b="1"/>
              <a:t>Broadcast </a:t>
            </a:r>
            <a:r>
              <a:rPr lang="pt-BR" sz="2133"/>
              <a:t>– um para todos</a:t>
            </a:r>
          </a:p>
          <a:p>
            <a:pPr lvl="1"/>
            <a:endParaRPr lang="en-US" sz="2133" dirty="0"/>
          </a:p>
          <a:p>
            <a:pPr marL="0" indent="0">
              <a:buNone/>
            </a:pPr>
            <a:r>
              <a:rPr lang="pt-BR" sz="2133" b="1"/>
              <a:t>Nota: As</a:t>
            </a:r>
            <a:r>
              <a:rPr lang="pt-BR" sz="2133"/>
              <a:t>transmissões são usadas em redes IPv4, mas não são uma opção para IPv6. Mais tarde, também veremos “Anycast” como uma opção de entrega adicional para IPv6.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533" y="4227907"/>
            <a:ext cx="2403020" cy="1793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4157" y="4227907"/>
            <a:ext cx="2457519" cy="1793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150" y="4227906"/>
            <a:ext cx="2485765" cy="1793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4997181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2133"/>
              <a:t>As Regras</a:t>
            </a:r>
            <a:br>
              <a:rPr lang="en-US" altLang="en-US" dirty="0"/>
            </a:br>
            <a:r>
              <a:rPr lang="pt-BR"/>
              <a:t>Uma Nota Sobre o Ícone de Nó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66146" y="1192100"/>
            <a:ext cx="11804381" cy="1014073"/>
          </a:xfrm>
        </p:spPr>
        <p:txBody>
          <a:bodyPr>
            <a:normAutofit fontScale="92500"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pt-BR" sz="2133"/>
              <a:t>Os documentos podem usar o ícone do nó, normalmente um círculo, para representar todos os dispositivos.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2133"/>
              <a:t>A figura ilustra o uso do ícone do nó para opções de entrega.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524" y="2374296"/>
            <a:ext cx="7390795" cy="3695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5570941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5234" y="1220546"/>
            <a:ext cx="10975285" cy="2403188"/>
          </a:xfrm>
        </p:spPr>
        <p:txBody>
          <a:bodyPr/>
          <a:lstStyle/>
          <a:p>
            <a:pPr rtl="0"/>
            <a:r>
              <a:rPr lang="pt-BR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Empresas de padrões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9772822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12192000" cy="1010068"/>
          </a:xfrm>
        </p:spPr>
        <p:txBody>
          <a:bodyPr/>
          <a:lstStyle/>
          <a:p>
            <a:pPr rtl="0"/>
            <a:r>
              <a:rPr lang="pt-BR" sz="2133"/>
              <a:t>Empresas</a:t>
            </a:r>
            <a:br>
              <a:rPr lang="en-US" altLang="en-US" sz="2133" dirty="0"/>
            </a:br>
            <a:r>
              <a:rPr lang="pt-BR"/>
              <a:t> de padrões </a:t>
            </a:r>
            <a:r>
              <a:rPr lang="pt-BR" sz="2133"/>
              <a:t>Padrões abertos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0" y="1010068"/>
            <a:ext cx="5869021" cy="5267515"/>
          </a:xfrm>
        </p:spPr>
        <p:txBody>
          <a:bodyPr/>
          <a:lstStyle/>
          <a:p>
            <a:pPr marL="0" indent="0">
              <a:buNone/>
            </a:pPr>
            <a:r>
              <a:rPr lang="pt-BR" sz="2133"/>
              <a:t>As normas abertas incentivam: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2133"/>
              <a:t>interoperabilidade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2133"/>
              <a:t>concorrência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2133"/>
              <a:t>negócios</a:t>
            </a:r>
          </a:p>
          <a:p>
            <a:pPr marL="0" indent="0">
              <a:buNone/>
            </a:pPr>
            <a:r>
              <a:rPr lang="pt-BR" sz="2133"/>
              <a:t>As organizações de padrões são: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2133"/>
              <a:t>fornecedor neutro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2133"/>
              <a:t>organizações sem fins lucrativos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2133"/>
              <a:t>criado para desenvolver e promover o conceito de normas abertas. 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78" y="1110187"/>
            <a:ext cx="5745113" cy="4095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0830764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1"/>
            <a:ext cx="5999239" cy="1010068"/>
          </a:xfrm>
        </p:spPr>
        <p:txBody>
          <a:bodyPr/>
          <a:lstStyle/>
          <a:p>
            <a:pPr rtl="0"/>
            <a:r>
              <a:rPr lang="pt-BR" sz="2133"/>
              <a:t>Empresas de padrões</a:t>
            </a:r>
            <a:br>
              <a:rPr lang="en-US" altLang="en-US" sz="2133" dirty="0"/>
            </a:br>
            <a:r>
              <a:rPr lang="pt-BR"/>
              <a:t> </a:t>
            </a:r>
            <a:r>
              <a:rPr lang="pt-BR" sz="2133"/>
              <a:t>Padrões de Internet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99239" y="294031"/>
            <a:ext cx="5869021" cy="5763264"/>
          </a:xfrm>
        </p:spPr>
        <p:txBody>
          <a:bodyPr>
            <a:normAutofit lnSpcReduction="10000"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pt-BR" sz="2400" b="1"/>
              <a:t>Internet Society (ISOC)</a:t>
            </a:r>
            <a:r>
              <a:rPr lang="pt-BR" sz="2400"/>
              <a:t> - Promove o desenvolvimento aberto e a evolução da Internet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2400" b="1"/>
              <a:t>Conselho de Arquitetura da Internet (IAB)</a:t>
            </a:r>
            <a:r>
              <a:rPr lang="pt-BR" sz="2400"/>
              <a:t> - Responsável pelo gerenciamento e desenvolvimento geral dos padrões da Internet.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2400" b="1"/>
              <a:t>IETF (Internet Engineering Task Force)</a:t>
            </a:r>
            <a:r>
              <a:rPr lang="pt-BR" sz="2400"/>
              <a:t> - Desenvolve, atualiza e mantém tecnologias de Internet e TCP / IP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2400" b="1"/>
              <a:t>Força-Tarefa de Pesquisa na Internet (IRTF)</a:t>
            </a:r>
            <a:r>
              <a:rPr lang="pt-BR" sz="2400"/>
              <a:t> - Focada em pesquisas de longo prazo relacionadas à Internet e aos protocolos TCP / IP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526" y="1341893"/>
            <a:ext cx="5805713" cy="4385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1643246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11940419" cy="1010068"/>
          </a:xfrm>
        </p:spPr>
        <p:txBody>
          <a:bodyPr/>
          <a:lstStyle/>
          <a:p>
            <a:pPr rtl="0"/>
            <a:r>
              <a:rPr lang="pt-BR" sz="2133"/>
              <a:t>Empresas de padrões</a:t>
            </a:r>
            <a:br>
              <a:rPr lang="en-US" altLang="en-US" sz="2133" dirty="0"/>
            </a:br>
            <a:r>
              <a:rPr lang="pt-BR"/>
              <a:t> </a:t>
            </a:r>
            <a:r>
              <a:rPr lang="pt-BR" sz="2133"/>
              <a:t>Padrões de Internet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98531" y="1043213"/>
            <a:ext cx="5663963" cy="4896152"/>
          </a:xfrm>
        </p:spPr>
        <p:txBody>
          <a:bodyPr/>
          <a:lstStyle/>
          <a:p>
            <a:pPr marL="0" indent="0">
              <a:buNone/>
            </a:pPr>
            <a:r>
              <a:rPr lang="pt-BR" sz="2133"/>
              <a:t>Organizações de padrões envolvidas no desenvolvimento e suporte de TCP / IP</a:t>
            </a:r>
          </a:p>
          <a:p>
            <a:pPr lvl="1" rtl="0"/>
            <a:r>
              <a:rPr lang="pt-BR" sz="2133" b="1"/>
              <a:t>Corporação da Internet para nomes e números atribuídos (ICANN)</a:t>
            </a:r>
            <a:r>
              <a:rPr lang="pt-BR" sz="2133"/>
              <a:t> - Coordena a alocação de endereços IP, o gerenciamento de nomes de domínio e a atribuição de outras informações</a:t>
            </a:r>
          </a:p>
          <a:p>
            <a:pPr lvl="1" rtl="0"/>
            <a:r>
              <a:rPr lang="pt-BR" sz="2133" b="1"/>
              <a:t>Autoridade para atribuição de números da Internet (IANA)</a:t>
            </a:r>
            <a:r>
              <a:rPr lang="pt-BR" sz="2133"/>
              <a:t> - supervisiona e gerencia a alocação de endereços IP, o gerenciamento de nomes de domínio e os identificadores de protocolo da ICANN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29" y="1703010"/>
            <a:ext cx="5837443" cy="3653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1211513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5234" y="1220546"/>
            <a:ext cx="10975285" cy="2403188"/>
          </a:xfrm>
        </p:spPr>
        <p:txBody>
          <a:bodyPr/>
          <a:lstStyle/>
          <a:p>
            <a:pPr rtl="0"/>
            <a:r>
              <a:rPr lang="pt-BR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Modelos de referência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0016951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2" y="135468"/>
            <a:ext cx="11711517" cy="518873"/>
          </a:xfrm>
        </p:spPr>
        <p:txBody>
          <a:bodyPr>
            <a:normAutofit fontScale="90000"/>
          </a:bodyPr>
          <a:lstStyle/>
          <a:p>
            <a:pPr rtl="0"/>
            <a:r>
              <a:rPr lang="pt-BR" sz="3200" dirty="0"/>
              <a:t>Modelos de referência </a:t>
            </a:r>
            <a:r>
              <a:rPr lang="pt-BR" sz="2133" dirty="0"/>
              <a:t>O modelo de referência OSI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656938"/>
              </p:ext>
            </p:extLst>
          </p:nvPr>
        </p:nvGraphicFramePr>
        <p:xfrm>
          <a:off x="548192" y="738230"/>
          <a:ext cx="11037004" cy="60682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07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3486">
                <a:tc>
                  <a:txBody>
                    <a:bodyPr/>
                    <a:lstStyle/>
                    <a:p>
                      <a:pPr rtl="0"/>
                      <a:r>
                        <a:rPr lang="pt-BR" sz="2400" b="1" dirty="0">
                          <a:effectLst/>
                        </a:rPr>
                        <a:t>Camada de modelo OSI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2400" b="1" dirty="0">
                          <a:effectLst/>
                        </a:rPr>
                        <a:t>Descrição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78">
                <a:tc>
                  <a:txBody>
                    <a:bodyPr/>
                    <a:lstStyle/>
                    <a:p>
                      <a:pPr rtl="0"/>
                      <a:r>
                        <a:rPr lang="pt-BR" sz="2400" b="1"/>
                        <a:t>7 - Aplicação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2400"/>
                        <a:t>Contém protocolos usados para comunicações processo a processo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3486">
                <a:tc>
                  <a:txBody>
                    <a:bodyPr/>
                    <a:lstStyle/>
                    <a:p>
                      <a:pPr rtl="0"/>
                      <a:r>
                        <a:rPr lang="pt-BR" sz="2400" b="1"/>
                        <a:t>6 - Apresentação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2400"/>
                        <a:t>Fornece representação comum dos dados transferidos entre os serviços da camada de aplicativo.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3486">
                <a:tc>
                  <a:txBody>
                    <a:bodyPr/>
                    <a:lstStyle/>
                    <a:p>
                      <a:pPr rtl="0"/>
                      <a:r>
                        <a:rPr lang="pt-BR" sz="2400" b="1"/>
                        <a:t>5 - Sessão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2400"/>
                        <a:t>Fornece serviços para a camada de apresentação e para gerenciar a troca de dados.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3486">
                <a:tc>
                  <a:txBody>
                    <a:bodyPr/>
                    <a:lstStyle/>
                    <a:p>
                      <a:pPr rtl="0"/>
                      <a:r>
                        <a:rPr lang="pt-BR" sz="2400" b="1"/>
                        <a:t>4 - Transporte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2400" dirty="0"/>
                        <a:t>Define serviços para segmentar, transferir e remontar os dados para comunicações individuais.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4352">
                <a:tc>
                  <a:txBody>
                    <a:bodyPr/>
                    <a:lstStyle/>
                    <a:p>
                      <a:pPr rtl="0"/>
                      <a:r>
                        <a:rPr lang="pt-BR" sz="2400" b="1"/>
                        <a:t>3 - Rede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2400"/>
                        <a:t>Fornece serviços para troca de dados individuais pela rede.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33486">
                <a:tc>
                  <a:txBody>
                    <a:bodyPr/>
                    <a:lstStyle/>
                    <a:p>
                      <a:pPr rtl="0"/>
                      <a:r>
                        <a:rPr lang="pt-BR" sz="2400" b="1"/>
                        <a:t>2 - Link de dados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2400"/>
                        <a:t>Descreve métodos para a troca de quadros de dados em uma mídia comum.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8973">
                <a:tc>
                  <a:txBody>
                    <a:bodyPr/>
                    <a:lstStyle/>
                    <a:p>
                      <a:pPr rtl="0"/>
                      <a:r>
                        <a:rPr lang="pt-BR" sz="2400" b="1"/>
                        <a:t>1 - Físico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2400" dirty="0"/>
                        <a:t>Descreve os</a:t>
                      </a:r>
                      <a:r>
                        <a:rPr lang="pt-BR" sz="2400" baseline="0" dirty="0"/>
                        <a:t> </a:t>
                      </a:r>
                      <a:r>
                        <a:rPr lang="pt-BR" sz="2400" dirty="0"/>
                        <a:t>meios para ativar, manter e desativar conexões físicas.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5251992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2" y="135468"/>
            <a:ext cx="11711517" cy="1006323"/>
          </a:xfrm>
        </p:spPr>
        <p:txBody>
          <a:bodyPr/>
          <a:lstStyle/>
          <a:p>
            <a:pPr rtl="0"/>
            <a:r>
              <a:rPr lang="pt-BR" sz="2133"/>
              <a:t>Modelos de referência</a:t>
            </a:r>
            <a:br>
              <a:rPr lang="en-US" altLang="en-US" dirty="0"/>
            </a:br>
            <a:r>
              <a:rPr lang="pt-BR" sz="3200"/>
              <a:t>O modelo de referência TCP / IP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83809" y="1273635"/>
          <a:ext cx="10953448" cy="40612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47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6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 rtl="0"/>
                      <a:r>
                        <a:rPr lang="pt-BR" sz="2400" b="1">
                          <a:effectLst/>
                        </a:rPr>
                        <a:t>Camada do modelo TCP/IP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2400" b="1">
                          <a:effectLst/>
                        </a:rPr>
                        <a:t>Descrição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rtl="0"/>
                      <a:r>
                        <a:rPr lang="pt-BR" sz="2400" b="1"/>
                        <a:t>Aplicação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2400"/>
                        <a:t>Representa dados para o usuário, além do controle de codificação e de diálogo.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rtl="0"/>
                      <a:r>
                        <a:rPr lang="pt-BR" sz="2400" b="1"/>
                        <a:t>Transporte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2400"/>
                        <a:t>Permite a comunicação entre vários dispositivos diferentes em redes distintas.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449">
                <a:tc>
                  <a:txBody>
                    <a:bodyPr/>
                    <a:lstStyle/>
                    <a:p>
                      <a:pPr rtl="0"/>
                      <a:r>
                        <a:rPr lang="pt-BR" sz="2400" b="1"/>
                        <a:t>Internet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2400"/>
                        <a:t>Determina o melhor caminho pela rede.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rtl="0"/>
                      <a:r>
                        <a:rPr lang="pt-BR" sz="2400" b="1"/>
                        <a:t> Endereço de rede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2400"/>
                        <a:t>Controla os dispositivos de hardware e o meio físico que formam a rede.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8511304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2133"/>
              <a:t>Modelos de referência</a:t>
            </a:r>
            <a:br>
              <a:rPr lang="en-US" altLang="en-US" dirty="0"/>
            </a:br>
            <a:r>
              <a:rPr lang="pt-BR"/>
              <a:t> Comparação de modelos OSI e TCP / IP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7094706" y="1568422"/>
            <a:ext cx="5097295" cy="4430817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pt-BR" sz="2133"/>
              <a:t>O modelo OSI divide a camada de acesso à rede e a camada de aplicação do modelo TCP/IP em várias camadas.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2133"/>
              <a:t>O conjunto de protocolos TCP/IP não especifica quais protocolos usar ao transmitir por meio de uma mídia física.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2133"/>
              <a:t>As Camadas 1 e 2 do modelo OSI discutem os procedimentos necessários para acessar a mídia e o meio físico para enviar dados por uma rede.</a:t>
            </a:r>
          </a:p>
          <a:p>
            <a:pPr lvl="1"/>
            <a:endParaRPr lang="en-CA" alt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28" y="1263307"/>
            <a:ext cx="6753981" cy="4735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2195043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942</Words>
  <Application>Microsoft Office PowerPoint</Application>
  <PresentationFormat>Widescreen</PresentationFormat>
  <Paragraphs>124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Tema do Office</vt:lpstr>
      <vt:lpstr>As Regras</vt:lpstr>
      <vt:lpstr> As regras Princípios da comunicação</vt:lpstr>
      <vt:lpstr> As regras Tamanho da mensagem</vt:lpstr>
      <vt:lpstr>As regras  Opções de entrega da mensagem</vt:lpstr>
      <vt:lpstr>As Regras Uma Nota Sobre o Ícone de Nó</vt:lpstr>
      <vt:lpstr>Empresas de padrões</vt:lpstr>
      <vt:lpstr>Empresas  de padrões Padrões abertos</vt:lpstr>
      <vt:lpstr>Empresas de padrões  Padrões de Internet</vt:lpstr>
      <vt:lpstr>Empresas de padrões  Padrões de Internet</vt:lpstr>
      <vt:lpstr>Modelos de referência</vt:lpstr>
      <vt:lpstr>Modelos de referência O modelo de referência OSI</vt:lpstr>
      <vt:lpstr>Modelos de referência O modelo de referência TCP / IP</vt:lpstr>
      <vt:lpstr>Modelos de referência  Comparação de modelos OSI e TCP / IP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Regras</dc:title>
  <dc:creator>THIAGO GARCIA DE FIGUEIREDO</dc:creator>
  <cp:lastModifiedBy>THIAGO GARCIA DE FIGUEIREDO</cp:lastModifiedBy>
  <cp:revision>1</cp:revision>
  <dcterms:created xsi:type="dcterms:W3CDTF">2024-03-07T22:15:14Z</dcterms:created>
  <dcterms:modified xsi:type="dcterms:W3CDTF">2024-03-08T01:18:46Z</dcterms:modified>
</cp:coreProperties>
</file>