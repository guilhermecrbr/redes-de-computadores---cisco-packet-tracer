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V+3lryKjIJ9U3CUzpqZSmbLGh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4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4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5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1"/>
          <p:cNvSpPr>
            <a:spLocks noGrp="1"/>
          </p:cNvSpPr>
          <p:nvPr>
            <p:ph type="pic" idx="2"/>
          </p:nvPr>
        </p:nvSpPr>
        <p:spPr>
          <a:xfrm>
            <a:off x="5183188" y="987425"/>
            <a:ext cx="6172200" cy="4873625"/>
          </a:xfrm>
          <a:prstGeom prst="rect">
            <a:avLst/>
          </a:prstGeom>
          <a:noFill/>
          <a:ln>
            <a:noFill/>
          </a:ln>
        </p:spPr>
      </p:sp>
      <p:sp>
        <p:nvSpPr>
          <p:cNvPr id="64" name="Google Shape;64;p5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5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pt-BR"/>
              <a:t>Squid no PFSense</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86" name="Google Shape;86;p1"/>
          <p:cNvPicPr preferRelativeResize="0"/>
          <p:nvPr/>
        </p:nvPicPr>
        <p:blipFill rotWithShape="1">
          <a:blip r:embed="rId3">
            <a:alphaModFix/>
          </a:blip>
          <a:srcRect/>
          <a:stretch/>
        </p:blipFill>
        <p:spPr>
          <a:xfrm>
            <a:off x="3593682" y="3602038"/>
            <a:ext cx="4619625" cy="2714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92" name="Google Shape;92;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Já logado no PFSense basta ir em System &gt; Package Manager e na aba de Available Packages basta procurar o Squid, você encontrará 3 opções abaixo:    - Inicialmente iremos instalar apenas o Squid</a:t>
            </a:r>
            <a:endParaRPr/>
          </a:p>
        </p:txBody>
      </p:sp>
      <p:pic>
        <p:nvPicPr>
          <p:cNvPr id="93" name="Google Shape;93;p2"/>
          <p:cNvPicPr preferRelativeResize="0"/>
          <p:nvPr/>
        </p:nvPicPr>
        <p:blipFill rotWithShape="1">
          <a:blip r:embed="rId3">
            <a:alphaModFix/>
          </a:blip>
          <a:srcRect/>
          <a:stretch/>
        </p:blipFill>
        <p:spPr>
          <a:xfrm>
            <a:off x="1093018" y="3158473"/>
            <a:ext cx="1718419" cy="3699527"/>
          </a:xfrm>
          <a:prstGeom prst="rect">
            <a:avLst/>
          </a:prstGeom>
          <a:noFill/>
          <a:ln>
            <a:noFill/>
          </a:ln>
        </p:spPr>
      </p:pic>
      <p:sp>
        <p:nvSpPr>
          <p:cNvPr id="94" name="Google Shape;94;p2"/>
          <p:cNvSpPr txBox="1"/>
          <p:nvPr/>
        </p:nvSpPr>
        <p:spPr>
          <a:xfrm>
            <a:off x="3521121" y="3736054"/>
            <a:ext cx="7315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b="0" i="0" u="none" strike="noStrike" cap="none">
                <a:solidFill>
                  <a:schemeClr val="dk1"/>
                </a:solidFill>
                <a:latin typeface="Calibri"/>
                <a:ea typeface="Calibri"/>
                <a:cs typeface="Calibri"/>
                <a:sym typeface="Calibri"/>
              </a:rPr>
              <a:t>Proporciona a criação de gráficos através do Squid em tempo real</a:t>
            </a:r>
            <a:endParaRPr/>
          </a:p>
        </p:txBody>
      </p:sp>
      <p:sp>
        <p:nvSpPr>
          <p:cNvPr id="95" name="Google Shape;95;p2"/>
          <p:cNvSpPr txBox="1"/>
          <p:nvPr/>
        </p:nvSpPr>
        <p:spPr>
          <a:xfrm>
            <a:off x="3452883" y="4841979"/>
            <a:ext cx="73152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dk1"/>
                </a:solidFill>
                <a:latin typeface="Calibri"/>
                <a:ea typeface="Calibri"/>
                <a:cs typeface="Calibri"/>
                <a:sym typeface="Calibri"/>
              </a:rPr>
              <a:t>O Squid em si, proporciona a criação de um Proxy customizado para usa rede, aplicando também antivírus e regras de SSL para a criptografia de dados de navegação.</a:t>
            </a:r>
            <a:endParaRPr/>
          </a:p>
        </p:txBody>
      </p:sp>
      <p:sp>
        <p:nvSpPr>
          <p:cNvPr id="96" name="Google Shape;96;p2"/>
          <p:cNvSpPr txBox="1"/>
          <p:nvPr/>
        </p:nvSpPr>
        <p:spPr>
          <a:xfrm>
            <a:off x="3479610" y="6265165"/>
            <a:ext cx="72060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dk1"/>
                </a:solidFill>
                <a:latin typeface="Calibri"/>
                <a:ea typeface="Calibri"/>
                <a:cs typeface="Calibri"/>
                <a:sym typeface="Calibri"/>
              </a:rPr>
              <a:t>Proporciona maior flexibilidade e abrangência para as regras criadas</a:t>
            </a:r>
            <a:endParaRPr/>
          </a:p>
        </p:txBody>
      </p:sp>
      <p:cxnSp>
        <p:nvCxnSpPr>
          <p:cNvPr id="97" name="Google Shape;97;p2"/>
          <p:cNvCxnSpPr/>
          <p:nvPr/>
        </p:nvCxnSpPr>
        <p:spPr>
          <a:xfrm>
            <a:off x="2720482" y="3917098"/>
            <a:ext cx="618728" cy="1811"/>
          </a:xfrm>
          <a:prstGeom prst="straightConnector1">
            <a:avLst/>
          </a:prstGeom>
          <a:noFill/>
          <a:ln w="76200" cap="flat" cmpd="sng">
            <a:solidFill>
              <a:schemeClr val="accent1"/>
            </a:solidFill>
            <a:prstDash val="solid"/>
            <a:miter lim="800000"/>
            <a:headEnd type="none" w="sm" len="sm"/>
            <a:tailEnd type="triangle" w="med" len="med"/>
          </a:ln>
        </p:spPr>
      </p:cxnSp>
      <p:cxnSp>
        <p:nvCxnSpPr>
          <p:cNvPr id="98" name="Google Shape;98;p2"/>
          <p:cNvCxnSpPr/>
          <p:nvPr/>
        </p:nvCxnSpPr>
        <p:spPr>
          <a:xfrm>
            <a:off x="2629526" y="5000991"/>
            <a:ext cx="709684" cy="7245"/>
          </a:xfrm>
          <a:prstGeom prst="straightConnector1">
            <a:avLst/>
          </a:prstGeom>
          <a:noFill/>
          <a:ln w="76200" cap="flat" cmpd="sng">
            <a:solidFill>
              <a:schemeClr val="accent1"/>
            </a:solidFill>
            <a:prstDash val="solid"/>
            <a:miter lim="800000"/>
            <a:headEnd type="none" w="sm" len="sm"/>
            <a:tailEnd type="triangle" w="med" len="med"/>
          </a:ln>
        </p:spPr>
      </p:cxnSp>
      <p:cxnSp>
        <p:nvCxnSpPr>
          <p:cNvPr id="99" name="Google Shape;99;p2"/>
          <p:cNvCxnSpPr/>
          <p:nvPr/>
        </p:nvCxnSpPr>
        <p:spPr>
          <a:xfrm>
            <a:off x="2743199" y="6442586"/>
            <a:ext cx="709684" cy="7245"/>
          </a:xfrm>
          <a:prstGeom prst="straightConnector1">
            <a:avLst/>
          </a:prstGeom>
          <a:noFill/>
          <a:ln w="76200" cap="flat" cmpd="sng">
            <a:solidFill>
              <a:schemeClr val="accent1"/>
            </a:solidFill>
            <a:prstDash val="solid"/>
            <a:miter lim="800000"/>
            <a:headEnd type="none" w="sm" len="sm"/>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05" name="Google Shape;105;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Basta clicar em Install e aguardar o processo finalizar</a:t>
            </a:r>
            <a:endParaRPr/>
          </a:p>
        </p:txBody>
      </p:sp>
      <p:pic>
        <p:nvPicPr>
          <p:cNvPr id="106" name="Google Shape;106;p3"/>
          <p:cNvPicPr preferRelativeResize="0"/>
          <p:nvPr/>
        </p:nvPicPr>
        <p:blipFill rotWithShape="1">
          <a:blip r:embed="rId3">
            <a:alphaModFix/>
          </a:blip>
          <a:srcRect/>
          <a:stretch/>
        </p:blipFill>
        <p:spPr>
          <a:xfrm>
            <a:off x="1054857" y="2327582"/>
            <a:ext cx="6096569" cy="43590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12" name="Google Shape;112;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precisamos ativar via prompt de comando. Para isso, basta ir em Diagnostic &gt; Command Prompt e utilizar o seguinte comando:</a:t>
            </a:r>
            <a:endParaRPr/>
          </a:p>
          <a:p>
            <a:pPr marL="228600" lvl="0" indent="-228600" algn="l" rtl="0">
              <a:lnSpc>
                <a:spcPct val="90000"/>
              </a:lnSpc>
              <a:spcBef>
                <a:spcPts val="1000"/>
              </a:spcBef>
              <a:spcAft>
                <a:spcPts val="0"/>
              </a:spcAft>
              <a:buClr>
                <a:srgbClr val="FF0000"/>
              </a:buClr>
              <a:buSzPts val="2800"/>
              <a:buChar char="•"/>
            </a:pPr>
            <a:r>
              <a:rPr lang="pt-BR">
                <a:solidFill>
                  <a:srgbClr val="FF0000"/>
                </a:solidFill>
              </a:rPr>
              <a:t>squid –f /usr/local/etc/squid/squid.conf –k parse</a:t>
            </a:r>
            <a:endParaRPr/>
          </a:p>
          <a:p>
            <a:pPr marL="228600" lvl="0" indent="-228600" algn="l" rtl="0">
              <a:lnSpc>
                <a:spcPct val="90000"/>
              </a:lnSpc>
              <a:spcBef>
                <a:spcPts val="1000"/>
              </a:spcBef>
              <a:spcAft>
                <a:spcPts val="0"/>
              </a:spcAft>
              <a:buClr>
                <a:schemeClr val="dk1"/>
              </a:buClr>
              <a:buSzPts val="2800"/>
              <a:buChar char="•"/>
            </a:pPr>
            <a:r>
              <a:rPr lang="pt-BR"/>
              <a:t>Agora basta clicar em Executar</a:t>
            </a:r>
            <a:endParaRPr/>
          </a:p>
        </p:txBody>
      </p:sp>
      <p:pic>
        <p:nvPicPr>
          <p:cNvPr id="113" name="Google Shape;113;p4"/>
          <p:cNvPicPr preferRelativeResize="0"/>
          <p:nvPr/>
        </p:nvPicPr>
        <p:blipFill rotWithShape="1">
          <a:blip r:embed="rId3">
            <a:alphaModFix/>
          </a:blip>
          <a:srcRect/>
          <a:stretch/>
        </p:blipFill>
        <p:spPr>
          <a:xfrm>
            <a:off x="838200" y="3920014"/>
            <a:ext cx="9503651" cy="18040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Instalação</a:t>
            </a:r>
            <a:endParaRPr/>
          </a:p>
        </p:txBody>
      </p:sp>
      <p:sp>
        <p:nvSpPr>
          <p:cNvPr id="119" name="Google Shape;11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Verifique se não ocorreu erros durante a instalação, além do erro do cache, que iremos corrigir agora.</a:t>
            </a:r>
            <a:endParaRPr/>
          </a:p>
          <a:p>
            <a:pPr marL="228600" lvl="0" indent="-228600" algn="l" rtl="0">
              <a:lnSpc>
                <a:spcPct val="90000"/>
              </a:lnSpc>
              <a:spcBef>
                <a:spcPts val="1000"/>
              </a:spcBef>
              <a:spcAft>
                <a:spcPts val="0"/>
              </a:spcAft>
              <a:buClr>
                <a:schemeClr val="dk1"/>
              </a:buClr>
              <a:buSzPts val="2800"/>
              <a:buChar char="•"/>
            </a:pPr>
            <a:r>
              <a:rPr lang="pt-BR"/>
              <a:t>Para isso vá em Services &gt; Squid Proxy Service e ir na aba General iremos habilita-lo, clicando na primeira opção</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pt-BR"/>
              <a:t>Lembre-se de ativar o Log também.</a:t>
            </a:r>
            <a:endParaRPr/>
          </a:p>
        </p:txBody>
      </p:sp>
      <p:pic>
        <p:nvPicPr>
          <p:cNvPr id="120" name="Google Shape;120;p5"/>
          <p:cNvPicPr preferRelativeResize="0"/>
          <p:nvPr/>
        </p:nvPicPr>
        <p:blipFill rotWithShape="1">
          <a:blip r:embed="rId3">
            <a:alphaModFix/>
          </a:blip>
          <a:srcRect/>
          <a:stretch/>
        </p:blipFill>
        <p:spPr>
          <a:xfrm>
            <a:off x="838200" y="3724847"/>
            <a:ext cx="10410883" cy="15701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26" name="Google Shape;126;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Na aba ACLs é possível configurar em que redes o Squid irá funcionar em </a:t>
            </a:r>
            <a:r>
              <a:rPr lang="pt-BR" b="1"/>
              <a:t>Allowerd Subnets</a:t>
            </a:r>
            <a:r>
              <a:rPr lang="pt-BR"/>
              <a:t>, lembrando que a rede interna já é configurada, mas por padrão podemos coloca-la também. Como: 192.168.1.0/24</a:t>
            </a:r>
            <a:endParaRPr/>
          </a:p>
          <a:p>
            <a:pPr marL="228600" lvl="0" indent="-228600" algn="l" rtl="0">
              <a:lnSpc>
                <a:spcPct val="90000"/>
              </a:lnSpc>
              <a:spcBef>
                <a:spcPts val="1000"/>
              </a:spcBef>
              <a:spcAft>
                <a:spcPts val="0"/>
              </a:spcAft>
              <a:buClr>
                <a:schemeClr val="dk1"/>
              </a:buClr>
              <a:buSzPts val="2800"/>
              <a:buChar char="•"/>
            </a:pPr>
            <a:r>
              <a:rPr lang="pt-BR"/>
              <a:t>Em </a:t>
            </a:r>
            <a:r>
              <a:rPr lang="pt-BR" b="1"/>
              <a:t>Unrestriced Ips </a:t>
            </a:r>
            <a:r>
              <a:rPr lang="pt-BR"/>
              <a:t>pode adicionar as maquinas que não passarão por bloqueios.</a:t>
            </a:r>
            <a:endParaRPr/>
          </a:p>
          <a:p>
            <a:pPr marL="228600" lvl="0" indent="-228600" algn="l" rtl="0">
              <a:lnSpc>
                <a:spcPct val="90000"/>
              </a:lnSpc>
              <a:spcBef>
                <a:spcPts val="1000"/>
              </a:spcBef>
              <a:spcAft>
                <a:spcPts val="0"/>
              </a:spcAft>
              <a:buClr>
                <a:schemeClr val="dk1"/>
              </a:buClr>
              <a:buSzPts val="2800"/>
              <a:buChar char="•"/>
            </a:pPr>
            <a:r>
              <a:rPr lang="pt-BR"/>
              <a:t>E em </a:t>
            </a:r>
            <a:r>
              <a:rPr lang="pt-BR" b="1"/>
              <a:t>Banned Hosts </a:t>
            </a:r>
            <a:r>
              <a:rPr lang="pt-BR"/>
              <a:t>é onde os Ips que não poderão acessar o proxy ficarão.</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32" name="Google Shape;132;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Também encontramos a </a:t>
            </a:r>
            <a:r>
              <a:rPr lang="pt-BR" b="1"/>
              <a:t>WHITE LIST </a:t>
            </a:r>
            <a:r>
              <a:rPr lang="pt-BR"/>
              <a:t>e </a:t>
            </a:r>
            <a:r>
              <a:rPr lang="pt-BR" b="1"/>
              <a:t>BLACK LIST </a:t>
            </a:r>
            <a:r>
              <a:rPr lang="pt-BR"/>
              <a:t>para permitir ou bloquear sites.</a:t>
            </a:r>
            <a:endParaRPr/>
          </a:p>
        </p:txBody>
      </p:sp>
      <p:pic>
        <p:nvPicPr>
          <p:cNvPr id="133" name="Google Shape;133;p7"/>
          <p:cNvPicPr preferRelativeResize="0"/>
          <p:nvPr/>
        </p:nvPicPr>
        <p:blipFill rotWithShape="1">
          <a:blip r:embed="rId3">
            <a:alphaModFix/>
          </a:blip>
          <a:srcRect/>
          <a:stretch/>
        </p:blipFill>
        <p:spPr>
          <a:xfrm>
            <a:off x="1086802" y="2563018"/>
            <a:ext cx="7908012" cy="40409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39" name="Google Shape;13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Em Block Users Agents é possível bloquear determinados browsers para não poderem acessar a rede.</a:t>
            </a:r>
            <a:endParaRPr/>
          </a:p>
        </p:txBody>
      </p:sp>
      <p:pic>
        <p:nvPicPr>
          <p:cNvPr id="140" name="Google Shape;140;p8"/>
          <p:cNvPicPr preferRelativeResize="0"/>
          <p:nvPr/>
        </p:nvPicPr>
        <p:blipFill rotWithShape="1">
          <a:blip r:embed="rId3">
            <a:alphaModFix/>
          </a:blip>
          <a:srcRect/>
          <a:stretch/>
        </p:blipFill>
        <p:spPr>
          <a:xfrm>
            <a:off x="838200" y="2973229"/>
            <a:ext cx="10267411" cy="2899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46" name="Google Shape;14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Em Block MIME  Types é possível bloquear os arquivos de execução no navegador ou para downloads. </a:t>
            </a:r>
            <a:endParaRPr/>
          </a:p>
        </p:txBody>
      </p:sp>
      <p:pic>
        <p:nvPicPr>
          <p:cNvPr id="147" name="Google Shape;147;p9"/>
          <p:cNvPicPr preferRelativeResize="0"/>
          <p:nvPr/>
        </p:nvPicPr>
        <p:blipFill rotWithShape="1">
          <a:blip r:embed="rId3">
            <a:alphaModFix/>
          </a:blip>
          <a:srcRect/>
          <a:stretch/>
        </p:blipFill>
        <p:spPr>
          <a:xfrm>
            <a:off x="838199" y="2944019"/>
            <a:ext cx="10731287" cy="2461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53" name="Google Shape;153;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Em Allowed Squid Ports, como o próprio nome já diz, são as portas que serão permitidas entrar para o squid, sendo que já vem descrito as portas padrões pré-configuras, tantas com proteção SSL ou não.</a:t>
            </a:r>
            <a:endParaRPr/>
          </a:p>
        </p:txBody>
      </p:sp>
      <p:pic>
        <p:nvPicPr>
          <p:cNvPr id="154" name="Google Shape;154;p10"/>
          <p:cNvPicPr preferRelativeResize="0"/>
          <p:nvPr/>
        </p:nvPicPr>
        <p:blipFill rotWithShape="1">
          <a:blip r:embed="rId3">
            <a:alphaModFix/>
          </a:blip>
          <a:srcRect/>
          <a:stretch/>
        </p:blipFill>
        <p:spPr>
          <a:xfrm>
            <a:off x="1114107" y="3091656"/>
            <a:ext cx="8829813" cy="29027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60" name="Google Shape;160;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Por fim está uma área destina a moderação de login para contas do Google e para o que será permitido ou bloqueado no youtube.</a:t>
            </a:r>
            <a:endParaRPr/>
          </a:p>
        </p:txBody>
      </p:sp>
      <p:pic>
        <p:nvPicPr>
          <p:cNvPr id="161" name="Google Shape;161;p11"/>
          <p:cNvPicPr preferRelativeResize="0"/>
          <p:nvPr/>
        </p:nvPicPr>
        <p:blipFill rotWithShape="1">
          <a:blip r:embed="rId3">
            <a:alphaModFix/>
          </a:blip>
          <a:srcRect/>
          <a:stretch/>
        </p:blipFill>
        <p:spPr>
          <a:xfrm>
            <a:off x="989964" y="2804794"/>
            <a:ext cx="9494641" cy="28644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 o usuário</a:t>
            </a:r>
            <a:endParaRPr/>
          </a:p>
        </p:txBody>
      </p:sp>
      <p:sp>
        <p:nvSpPr>
          <p:cNvPr id="167" name="Google Shape;16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basta habilitar o proxy de acordo com seu sistema operacional.</a:t>
            </a:r>
            <a:endParaRPr/>
          </a:p>
          <a:p>
            <a:pPr marL="228600" lvl="0" indent="-228600" algn="l" rtl="0">
              <a:lnSpc>
                <a:spcPct val="90000"/>
              </a:lnSpc>
              <a:spcBef>
                <a:spcPts val="1000"/>
              </a:spcBef>
              <a:spcAft>
                <a:spcPts val="0"/>
              </a:spcAft>
              <a:buClr>
                <a:schemeClr val="dk1"/>
              </a:buClr>
              <a:buSzPts val="2800"/>
              <a:buChar char="•"/>
            </a:pPr>
            <a:r>
              <a:rPr lang="pt-BR"/>
              <a:t>O mesmo pode ser colocado como automático e enviado via DHCP.</a:t>
            </a:r>
            <a:endParaRPr/>
          </a:p>
        </p:txBody>
      </p:sp>
      <p:pic>
        <p:nvPicPr>
          <p:cNvPr id="168" name="Google Shape;168;p12" descr="Proxy – Wikipédia, a enciclopédia livre"/>
          <p:cNvPicPr preferRelativeResize="0"/>
          <p:nvPr/>
        </p:nvPicPr>
        <p:blipFill rotWithShape="1">
          <a:blip r:embed="rId3">
            <a:alphaModFix/>
          </a:blip>
          <a:srcRect/>
          <a:stretch/>
        </p:blipFill>
        <p:spPr>
          <a:xfrm>
            <a:off x="838200" y="2805113"/>
            <a:ext cx="10041255" cy="37654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Interceptação de trafego (SSL e TSL)</a:t>
            </a:r>
            <a:endParaRPr/>
          </a:p>
        </p:txBody>
      </p:sp>
      <p:sp>
        <p:nvSpPr>
          <p:cNvPr id="174" name="Google Shape;17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Técnica que permite que os dados sejam criptografados utilizando o HTTPS.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pt-BR"/>
              <a:t>Basicamente consiste o proxy em se passar pelo site que será acessado por meio de uma emissão de certificado digital. De tal maneira que os dados dos dois lados passarão pelo proxy, sendo assim o mesmo capaz de tomar decisões.</a:t>
            </a:r>
            <a:endParaRPr/>
          </a:p>
          <a:p>
            <a:pPr marL="228600" lvl="0" indent="-228600" algn="l" rtl="0">
              <a:lnSpc>
                <a:spcPct val="90000"/>
              </a:lnSpc>
              <a:spcBef>
                <a:spcPts val="1000"/>
              </a:spcBef>
              <a:spcAft>
                <a:spcPts val="0"/>
              </a:spcAft>
              <a:buClr>
                <a:schemeClr val="dk1"/>
              </a:buClr>
              <a:buSzPts val="2800"/>
              <a:buChar char="•"/>
            </a:pPr>
            <a:r>
              <a:rPr lang="pt-BR"/>
              <a:t>Técnica acima conhecida como </a:t>
            </a:r>
            <a:r>
              <a:rPr lang="pt-BR" i="1"/>
              <a:t>man in the mirror.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80" name="Google Shape;180;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Iremos agora configurar o Certificado digital pelo Squid.</a:t>
            </a:r>
            <a:endParaRPr/>
          </a:p>
          <a:p>
            <a:pPr marL="228600" lvl="0" indent="-228600" algn="l" rtl="0">
              <a:lnSpc>
                <a:spcPct val="90000"/>
              </a:lnSpc>
              <a:spcBef>
                <a:spcPts val="1000"/>
              </a:spcBef>
              <a:spcAft>
                <a:spcPts val="0"/>
              </a:spcAft>
              <a:buClr>
                <a:schemeClr val="dk1"/>
              </a:buClr>
              <a:buSzPts val="2800"/>
              <a:buChar char="•"/>
            </a:pPr>
            <a:r>
              <a:rPr lang="pt-BR"/>
              <a:t>Basta ir em System &gt; Cert. Manager e exportar o Certificado digiral, caso não tenha basta criar um novo, conforme mostrado em aulas anteriores.</a:t>
            </a:r>
            <a:endParaRPr/>
          </a:p>
        </p:txBody>
      </p:sp>
      <p:pic>
        <p:nvPicPr>
          <p:cNvPr id="181" name="Google Shape;181;p14"/>
          <p:cNvPicPr preferRelativeResize="0"/>
          <p:nvPr/>
        </p:nvPicPr>
        <p:blipFill rotWithShape="1">
          <a:blip r:embed="rId3">
            <a:alphaModFix/>
          </a:blip>
          <a:srcRect/>
          <a:stretch/>
        </p:blipFill>
        <p:spPr>
          <a:xfrm>
            <a:off x="1101257" y="3661522"/>
            <a:ext cx="5686425" cy="1847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187" name="Google Shape;187;p15"/>
          <p:cNvSpPr txBox="1">
            <a:spLocks noGrp="1"/>
          </p:cNvSpPr>
          <p:nvPr>
            <p:ph type="body" idx="1"/>
          </p:nvPr>
        </p:nvSpPr>
        <p:spPr>
          <a:xfrm>
            <a:off x="838200" y="1879413"/>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15265" algn="l" rtl="0">
              <a:lnSpc>
                <a:spcPct val="90000"/>
              </a:lnSpc>
              <a:spcBef>
                <a:spcPts val="0"/>
              </a:spcBef>
              <a:spcAft>
                <a:spcPts val="0"/>
              </a:spcAft>
              <a:buClr>
                <a:schemeClr val="dk1"/>
              </a:buClr>
              <a:buSzPct val="100000"/>
              <a:buChar char="•"/>
            </a:pPr>
            <a:r>
              <a:rPr lang="pt-BR"/>
              <a:t>Indo em Service&gt;Squid Proxy Service, na aba General, iremos ir até a parte que se encontra os certificados. Basta procurar por: </a:t>
            </a:r>
            <a:r>
              <a:rPr lang="pt-BR">
                <a:solidFill>
                  <a:srgbClr val="FF0000"/>
                </a:solidFill>
              </a:rPr>
              <a:t>SSL Man in the Middle Filtering</a:t>
            </a:r>
            <a:endParaRPr>
              <a:solidFill>
                <a:srgbClr val="FF0000"/>
              </a:solidFill>
            </a:endParaRPr>
          </a:p>
          <a:p>
            <a:pPr marL="228600" lvl="0" indent="-215265" algn="l" rtl="0">
              <a:lnSpc>
                <a:spcPct val="90000"/>
              </a:lnSpc>
              <a:spcBef>
                <a:spcPts val="1000"/>
              </a:spcBef>
              <a:spcAft>
                <a:spcPts val="0"/>
              </a:spcAft>
              <a:buClr>
                <a:schemeClr val="dk1"/>
              </a:buClr>
              <a:buSzPct val="100000"/>
              <a:buChar char="•"/>
            </a:pPr>
            <a:r>
              <a:rPr lang="pt-BR"/>
              <a:t>Primeiro devemos habilita-lo.</a:t>
            </a:r>
            <a:endParaRPr/>
          </a:p>
          <a:p>
            <a:pPr marL="228600" lvl="0" indent="-215265" algn="l" rtl="0">
              <a:lnSpc>
                <a:spcPct val="90000"/>
              </a:lnSpc>
              <a:spcBef>
                <a:spcPts val="1000"/>
              </a:spcBef>
              <a:spcAft>
                <a:spcPts val="0"/>
              </a:spcAft>
              <a:buClr>
                <a:schemeClr val="dk1"/>
              </a:buClr>
              <a:buSzPct val="100000"/>
              <a:buChar char="•"/>
            </a:pPr>
            <a:r>
              <a:rPr lang="pt-BR"/>
              <a:t>Em CA coloque a que foi criada.</a:t>
            </a:r>
            <a:endParaRPr/>
          </a:p>
          <a:p>
            <a:pPr marL="228600" lvl="0" indent="-215265" algn="l" rtl="0">
              <a:lnSpc>
                <a:spcPct val="90000"/>
              </a:lnSpc>
              <a:spcBef>
                <a:spcPts val="1000"/>
              </a:spcBef>
              <a:spcAft>
                <a:spcPts val="0"/>
              </a:spcAft>
              <a:buClr>
                <a:schemeClr val="dk1"/>
              </a:buClr>
              <a:buSzPct val="100000"/>
              <a:buChar char="•"/>
            </a:pPr>
            <a:r>
              <a:rPr lang="pt-BR"/>
              <a:t>Em SSL Certificate Daemos, selecione o numero de acessos simultâneos que irá necessitar para cada site.</a:t>
            </a:r>
            <a:endParaRPr/>
          </a:p>
          <a:p>
            <a:pPr marL="228600" lvl="0" indent="-215265" algn="l" rtl="0">
              <a:lnSpc>
                <a:spcPct val="90000"/>
              </a:lnSpc>
              <a:spcBef>
                <a:spcPts val="1000"/>
              </a:spcBef>
              <a:spcAft>
                <a:spcPts val="0"/>
              </a:spcAft>
              <a:buClr>
                <a:schemeClr val="dk1"/>
              </a:buClr>
              <a:buSzPct val="100000"/>
              <a:buChar char="•"/>
            </a:pPr>
            <a:r>
              <a:rPr lang="pt-BR"/>
              <a:t>Deixe como aceitar certificados com erros.</a:t>
            </a:r>
            <a:endParaRPr/>
          </a:p>
          <a:p>
            <a:pPr marL="228600" lvl="0" indent="-215265" algn="l" rtl="0">
              <a:lnSpc>
                <a:spcPct val="90000"/>
              </a:lnSpc>
              <a:spcBef>
                <a:spcPts val="1000"/>
              </a:spcBef>
              <a:spcAft>
                <a:spcPts val="0"/>
              </a:spcAft>
              <a:buClr>
                <a:schemeClr val="dk1"/>
              </a:buClr>
              <a:buSzPct val="100000"/>
              <a:buChar char="•"/>
            </a:pPr>
            <a:r>
              <a:rPr lang="pt-BR"/>
              <a:t>E por fim, deixe selecionado a opção de Not After em Certificate Adapt.</a:t>
            </a:r>
            <a:endParaRPr/>
          </a:p>
          <a:p>
            <a:pPr marL="228600" lvl="0" indent="-50800" algn="l" rtl="0">
              <a:lnSpc>
                <a:spcPct val="90000"/>
              </a:lnSpc>
              <a:spcBef>
                <a:spcPts val="1000"/>
              </a:spcBef>
              <a:spcAft>
                <a:spcPts val="0"/>
              </a:spcAft>
              <a:buClr>
                <a:schemeClr val="dk1"/>
              </a:buClr>
              <a:buSzPct val="100000"/>
              <a:buNone/>
            </a:pPr>
            <a:endParaRPr/>
          </a:p>
          <a:p>
            <a:pPr marL="228600" lvl="0" indent="-5080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193" name="Google Shape;19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194" name="Google Shape;194;p16"/>
          <p:cNvPicPr preferRelativeResize="0"/>
          <p:nvPr/>
        </p:nvPicPr>
        <p:blipFill rotWithShape="1">
          <a:blip r:embed="rId3">
            <a:alphaModFix/>
          </a:blip>
          <a:srcRect/>
          <a:stretch/>
        </p:blipFill>
        <p:spPr>
          <a:xfrm>
            <a:off x="312923" y="365125"/>
            <a:ext cx="5514975" cy="3733800"/>
          </a:xfrm>
          <a:prstGeom prst="rect">
            <a:avLst/>
          </a:prstGeom>
          <a:noFill/>
          <a:ln>
            <a:noFill/>
          </a:ln>
        </p:spPr>
      </p:pic>
      <p:pic>
        <p:nvPicPr>
          <p:cNvPr id="195" name="Google Shape;195;p16"/>
          <p:cNvPicPr preferRelativeResize="0"/>
          <p:nvPr/>
        </p:nvPicPr>
        <p:blipFill rotWithShape="1">
          <a:blip r:embed="rId4">
            <a:alphaModFix/>
          </a:blip>
          <a:srcRect/>
          <a:stretch/>
        </p:blipFill>
        <p:spPr>
          <a:xfrm>
            <a:off x="4572561" y="2371165"/>
            <a:ext cx="5467350" cy="4267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Instalando</a:t>
            </a:r>
            <a:endParaRPr/>
          </a:p>
        </p:txBody>
      </p:sp>
      <p:sp>
        <p:nvSpPr>
          <p:cNvPr id="201" name="Google Shape;20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Ubuntu:</a:t>
            </a:r>
            <a:endParaRPr/>
          </a:p>
          <a:p>
            <a:pPr marL="685800" lvl="1" indent="-228600" algn="l" rtl="0">
              <a:lnSpc>
                <a:spcPct val="90000"/>
              </a:lnSpc>
              <a:spcBef>
                <a:spcPts val="500"/>
              </a:spcBef>
              <a:spcAft>
                <a:spcPts val="0"/>
              </a:spcAft>
              <a:buClr>
                <a:schemeClr val="dk1"/>
              </a:buClr>
              <a:buSzPts val="2400"/>
              <a:buChar char="•"/>
            </a:pPr>
            <a:r>
              <a:rPr lang="pt-BR"/>
              <a:t>Vá para / usr / local / share / ca-certificates /</a:t>
            </a:r>
            <a:endParaRPr/>
          </a:p>
          <a:p>
            <a:pPr marL="685800" lvl="1" indent="-228600" algn="l" rtl="0">
              <a:lnSpc>
                <a:spcPct val="90000"/>
              </a:lnSpc>
              <a:spcBef>
                <a:spcPts val="500"/>
              </a:spcBef>
              <a:spcAft>
                <a:spcPts val="0"/>
              </a:spcAft>
              <a:buClr>
                <a:schemeClr val="dk1"/>
              </a:buClr>
              <a:buSzPts val="2400"/>
              <a:buChar char="•"/>
            </a:pPr>
            <a:r>
              <a:rPr lang="pt-BR"/>
              <a:t>Crie uma nova pasta, por exemplo, "sudo mkdir ca-pf"</a:t>
            </a:r>
            <a:endParaRPr/>
          </a:p>
          <a:p>
            <a:pPr marL="685800" lvl="1" indent="-228600" algn="l" rtl="0">
              <a:lnSpc>
                <a:spcPct val="90000"/>
              </a:lnSpc>
              <a:spcBef>
                <a:spcPts val="500"/>
              </a:spcBef>
              <a:spcAft>
                <a:spcPts val="0"/>
              </a:spcAft>
              <a:buClr>
                <a:schemeClr val="dk1"/>
              </a:buClr>
              <a:buSzPts val="2400"/>
              <a:buChar char="•"/>
            </a:pPr>
            <a:r>
              <a:rPr lang="pt-BR"/>
              <a:t>Copie o arquivo .crt para a pasta da ca-pf</a:t>
            </a:r>
            <a:endParaRPr/>
          </a:p>
          <a:p>
            <a:pPr marL="685800" lvl="1" indent="-228600" algn="l" rtl="0">
              <a:lnSpc>
                <a:spcPct val="90000"/>
              </a:lnSpc>
              <a:spcBef>
                <a:spcPts val="500"/>
              </a:spcBef>
              <a:spcAft>
                <a:spcPts val="0"/>
              </a:spcAft>
              <a:buClr>
                <a:schemeClr val="dk1"/>
              </a:buClr>
              <a:buSzPts val="2400"/>
              <a:buChar char="•"/>
            </a:pPr>
            <a:r>
              <a:rPr lang="pt-BR"/>
              <a:t>Execute "sudo update-ca-certificates“</a:t>
            </a:r>
            <a:endParaRPr/>
          </a:p>
          <a:p>
            <a:pPr marL="228600" lvl="0" indent="-228600" algn="l" rtl="0">
              <a:lnSpc>
                <a:spcPct val="90000"/>
              </a:lnSpc>
              <a:spcBef>
                <a:spcPts val="1000"/>
              </a:spcBef>
              <a:spcAft>
                <a:spcPts val="0"/>
              </a:spcAft>
              <a:buClr>
                <a:schemeClr val="dk1"/>
              </a:buClr>
              <a:buSzPts val="2800"/>
              <a:buChar char="•"/>
            </a:pPr>
            <a:r>
              <a:rPr lang="pt-BR"/>
              <a:t>Windows:</a:t>
            </a:r>
            <a:endParaRPr/>
          </a:p>
          <a:p>
            <a:pPr marL="685800" lvl="1" indent="-228600" algn="l" rtl="0">
              <a:lnSpc>
                <a:spcPct val="90000"/>
              </a:lnSpc>
              <a:spcBef>
                <a:spcPts val="500"/>
              </a:spcBef>
              <a:spcAft>
                <a:spcPts val="0"/>
              </a:spcAft>
              <a:buClr>
                <a:schemeClr val="dk1"/>
              </a:buClr>
              <a:buSzPts val="2400"/>
              <a:buChar char="•"/>
            </a:pPr>
            <a:r>
              <a:rPr lang="pt-BR"/>
              <a:t>Basta dar duplo clique e clicar em próximo no arquivo .crt</a:t>
            </a:r>
            <a:endParaRPr/>
          </a:p>
          <a:p>
            <a:pPr marL="685800" lvl="1" indent="-228600" algn="l" rtl="0">
              <a:lnSpc>
                <a:spcPct val="90000"/>
              </a:lnSpc>
              <a:spcBef>
                <a:spcPts val="500"/>
              </a:spcBef>
              <a:spcAft>
                <a:spcPts val="0"/>
              </a:spcAft>
              <a:buClr>
                <a:schemeClr val="dk1"/>
              </a:buClr>
              <a:buSzPts val="2400"/>
              <a:buChar char="•"/>
            </a:pPr>
            <a:r>
              <a:rPr lang="pt-BR"/>
              <a:t>Escolher para ser instalado na pasta: “Autoridades de Certificação Raiz Confiáveis”</a:t>
            </a:r>
            <a:endParaRPr/>
          </a:p>
          <a:p>
            <a:pPr marL="685800" lvl="1" indent="-228600" algn="l" rtl="0">
              <a:lnSpc>
                <a:spcPct val="90000"/>
              </a:lnSpc>
              <a:spcBef>
                <a:spcPts val="500"/>
              </a:spcBef>
              <a:spcAft>
                <a:spcPts val="0"/>
              </a:spcAft>
              <a:buClr>
                <a:schemeClr val="dk1"/>
              </a:buClr>
              <a:buSzPts val="2400"/>
              <a:buChar char="•"/>
            </a:pPr>
            <a:r>
              <a:rPr lang="pt-BR"/>
              <a:t>E confirme caso necessário.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Criando usuário e senha para bloqueio de internet</a:t>
            </a:r>
            <a:endParaRPr/>
          </a:p>
        </p:txBody>
      </p:sp>
      <p:sp>
        <p:nvSpPr>
          <p:cNvPr id="207" name="Google Shape;20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Já na pagina do Squid vá na aba Users e clique para adicionar um novo usuário.</a:t>
            </a:r>
            <a:endParaRPr/>
          </a:p>
          <a:p>
            <a:pPr marL="228600" lvl="0" indent="-228600" algn="l" rtl="0">
              <a:lnSpc>
                <a:spcPct val="90000"/>
              </a:lnSpc>
              <a:spcBef>
                <a:spcPts val="1000"/>
              </a:spcBef>
              <a:spcAft>
                <a:spcPts val="0"/>
              </a:spcAft>
              <a:buClr>
                <a:schemeClr val="dk1"/>
              </a:buClr>
              <a:buSzPts val="2800"/>
              <a:buChar char="•"/>
            </a:pPr>
            <a:r>
              <a:rPr lang="pt-BR"/>
              <a:t>Basta preencher os dados como login e senha.</a:t>
            </a:r>
            <a:endParaRPr/>
          </a:p>
        </p:txBody>
      </p:sp>
      <p:pic>
        <p:nvPicPr>
          <p:cNvPr id="208" name="Google Shape;208;p18"/>
          <p:cNvPicPr preferRelativeResize="0"/>
          <p:nvPr/>
        </p:nvPicPr>
        <p:blipFill rotWithShape="1">
          <a:blip r:embed="rId3">
            <a:alphaModFix/>
          </a:blip>
          <a:srcRect/>
          <a:stretch/>
        </p:blipFill>
        <p:spPr>
          <a:xfrm>
            <a:off x="838200" y="3229535"/>
            <a:ext cx="8739124" cy="294742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Criando usuário e senha para bloqueio de internet</a:t>
            </a:r>
            <a:endParaRPr/>
          </a:p>
        </p:txBody>
      </p:sp>
      <p:sp>
        <p:nvSpPr>
          <p:cNvPr id="214" name="Google Shape;214;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Agora vá na aba de Authentication e escolha como método: “local” e preencha os dados caso necessário.</a:t>
            </a:r>
            <a:endParaRPr/>
          </a:p>
          <a:p>
            <a:pPr marL="228600" lvl="0" indent="-228600" algn="l" rtl="0">
              <a:lnSpc>
                <a:spcPct val="90000"/>
              </a:lnSpc>
              <a:spcBef>
                <a:spcPts val="1000"/>
              </a:spcBef>
              <a:spcAft>
                <a:spcPts val="0"/>
              </a:spcAft>
              <a:buClr>
                <a:schemeClr val="dk1"/>
              </a:buClr>
              <a:buSzPts val="2800"/>
              <a:buChar char="•"/>
            </a:pPr>
            <a:r>
              <a:rPr lang="pt-BR"/>
              <a:t>Após salvar já será pedido o login e senha para acesso.</a:t>
            </a:r>
            <a:endParaRPr/>
          </a:p>
        </p:txBody>
      </p:sp>
      <p:pic>
        <p:nvPicPr>
          <p:cNvPr id="215" name="Google Shape;215;p19"/>
          <p:cNvPicPr preferRelativeResize="0"/>
          <p:nvPr/>
        </p:nvPicPr>
        <p:blipFill rotWithShape="1">
          <a:blip r:embed="rId3">
            <a:alphaModFix/>
          </a:blip>
          <a:srcRect/>
          <a:stretch/>
        </p:blipFill>
        <p:spPr>
          <a:xfrm>
            <a:off x="1885390" y="3429000"/>
            <a:ext cx="6915150" cy="2076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 </a:t>
            </a:r>
            <a:endParaRPr/>
          </a:p>
        </p:txBody>
      </p:sp>
      <p:sp>
        <p:nvSpPr>
          <p:cNvPr id="221" name="Google Shape;221;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222" name="Google Shape;222;p20" descr="Squid Guard Logo Template Stock Vector | Adobe Stock"/>
          <p:cNvPicPr preferRelativeResize="0"/>
          <p:nvPr/>
        </p:nvPicPr>
        <p:blipFill rotWithShape="1">
          <a:blip r:embed="rId3">
            <a:alphaModFix/>
          </a:blip>
          <a:srcRect/>
          <a:stretch/>
        </p:blipFill>
        <p:spPr>
          <a:xfrm>
            <a:off x="1882588" y="259511"/>
            <a:ext cx="7422777" cy="742277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Sobre</a:t>
            </a:r>
            <a:endParaRPr/>
          </a:p>
        </p:txBody>
      </p:sp>
      <p:sp>
        <p:nvSpPr>
          <p:cNvPr id="228" name="Google Shape;228;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pt-BR"/>
              <a:t>É uma ferramenta de complementação ao Squid, em que é possível criar configurações mais dinâmicas para o Squid, em que pode facilitar a dinâmica em que trabalhará com seus bloqueios.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dirty="0"/>
              <a:t>Aplicando</a:t>
            </a:r>
            <a:endParaRPr dirty="0"/>
          </a:p>
        </p:txBody>
      </p:sp>
      <p:sp>
        <p:nvSpPr>
          <p:cNvPr id="234" name="Google Shape;234;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t>Basta seguir o caminho System &gt; </a:t>
            </a:r>
            <a:r>
              <a:rPr lang="pt-BR" dirty="0" err="1"/>
              <a:t>Package</a:t>
            </a:r>
            <a:r>
              <a:rPr lang="pt-BR" dirty="0"/>
              <a:t> Manager e procurar por </a:t>
            </a:r>
            <a:r>
              <a:rPr lang="pt-BR" dirty="0" err="1"/>
              <a:t>SquidGuard</a:t>
            </a:r>
            <a:r>
              <a:rPr lang="pt-BR" dirty="0"/>
              <a:t> em </a:t>
            </a:r>
            <a:r>
              <a:rPr lang="pt-BR" dirty="0" err="1"/>
              <a:t>Available</a:t>
            </a:r>
            <a:r>
              <a:rPr lang="pt-BR" dirty="0"/>
              <a:t> </a:t>
            </a:r>
            <a:r>
              <a:rPr lang="pt-BR" dirty="0" err="1"/>
              <a:t>Package</a:t>
            </a:r>
            <a:r>
              <a:rPr lang="pt-BR"/>
              <a:t>.</a:t>
            </a:r>
            <a:endParaRPr/>
          </a:p>
          <a:p>
            <a:pPr marL="228600" lvl="0" indent="-228600" algn="l" rtl="0">
              <a:lnSpc>
                <a:spcPct val="90000"/>
              </a:lnSpc>
              <a:spcBef>
                <a:spcPts val="1000"/>
              </a:spcBef>
              <a:spcAft>
                <a:spcPts val="0"/>
              </a:spcAft>
              <a:buClr>
                <a:schemeClr val="dk1"/>
              </a:buClr>
              <a:buSzPts val="2800"/>
              <a:buChar char="•"/>
            </a:pPr>
            <a:r>
              <a:rPr lang="pt-BR" dirty="0"/>
              <a:t>Basta clicar em instalar para iniciar.</a:t>
            </a:r>
            <a:endParaRPr dirty="0"/>
          </a:p>
        </p:txBody>
      </p:sp>
      <p:pic>
        <p:nvPicPr>
          <p:cNvPr id="235" name="Google Shape;235;p22"/>
          <p:cNvPicPr preferRelativeResize="0"/>
          <p:nvPr/>
        </p:nvPicPr>
        <p:blipFill rotWithShape="1">
          <a:blip r:embed="rId3">
            <a:alphaModFix/>
          </a:blip>
          <a:srcRect/>
          <a:stretch/>
        </p:blipFill>
        <p:spPr>
          <a:xfrm>
            <a:off x="1434353" y="3239532"/>
            <a:ext cx="5275848" cy="361846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Instalando</a:t>
            </a:r>
            <a:endParaRPr/>
          </a:p>
        </p:txBody>
      </p:sp>
      <p:sp>
        <p:nvSpPr>
          <p:cNvPr id="241" name="Google Shape;24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Assim como na instalação do Squid é necessário ativalo via Prompt de comando, localizado em: Diagnostic &gt; Command Proompt.</a:t>
            </a:r>
            <a:endParaRPr/>
          </a:p>
          <a:p>
            <a:pPr marL="228600" lvl="0" indent="-228600" algn="l" rtl="0">
              <a:lnSpc>
                <a:spcPct val="90000"/>
              </a:lnSpc>
              <a:spcBef>
                <a:spcPts val="1000"/>
              </a:spcBef>
              <a:spcAft>
                <a:spcPts val="0"/>
              </a:spcAft>
              <a:buClr>
                <a:schemeClr val="dk1"/>
              </a:buClr>
              <a:buSzPts val="2800"/>
              <a:buChar char="•"/>
            </a:pPr>
            <a:r>
              <a:rPr lang="pt-BR"/>
              <a:t>E executar o seguinte comando: </a:t>
            </a:r>
            <a:r>
              <a:rPr lang="pt-BR">
                <a:solidFill>
                  <a:srgbClr val="FF0000"/>
                </a:solidFill>
              </a:rPr>
              <a:t>/usr/local/sbin/squid –k reconfigure</a:t>
            </a:r>
            <a:endParaRPr/>
          </a:p>
        </p:txBody>
      </p:sp>
      <p:pic>
        <p:nvPicPr>
          <p:cNvPr id="242" name="Google Shape;242;p23"/>
          <p:cNvPicPr preferRelativeResize="0"/>
          <p:nvPr/>
        </p:nvPicPr>
        <p:blipFill rotWithShape="1">
          <a:blip r:embed="rId3">
            <a:alphaModFix/>
          </a:blip>
          <a:srcRect/>
          <a:stretch/>
        </p:blipFill>
        <p:spPr>
          <a:xfrm>
            <a:off x="838200" y="3429000"/>
            <a:ext cx="9580872" cy="17687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248" name="Google Shape;248;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Feito a instalação, para acessa-lo basta ir em Service &gt; SquidGuard Proxy Filter.</a:t>
            </a:r>
            <a:endParaRPr/>
          </a:p>
          <a:p>
            <a:pPr marL="228600" lvl="0" indent="-228600" algn="l" rtl="0">
              <a:lnSpc>
                <a:spcPct val="90000"/>
              </a:lnSpc>
              <a:spcBef>
                <a:spcPts val="1000"/>
              </a:spcBef>
              <a:spcAft>
                <a:spcPts val="0"/>
              </a:spcAft>
              <a:buClr>
                <a:schemeClr val="dk1"/>
              </a:buClr>
              <a:buSzPts val="2800"/>
              <a:buChar char="•"/>
            </a:pPr>
            <a:r>
              <a:rPr lang="pt-BR"/>
              <a:t>Antes de habilitar, é importante ao menos definir ao menos uma categoria, basta ir na aba de Target Categories e clicar em ADD.</a:t>
            </a:r>
            <a:endParaRPr/>
          </a:p>
          <a:p>
            <a:pPr marL="228600" lvl="0" indent="-50800" algn="l" rtl="0">
              <a:lnSpc>
                <a:spcPct val="90000"/>
              </a:lnSpc>
              <a:spcBef>
                <a:spcPts val="1000"/>
              </a:spcBef>
              <a:spcAft>
                <a:spcPts val="0"/>
              </a:spcAft>
              <a:buClr>
                <a:schemeClr val="dk1"/>
              </a:buClr>
              <a:buSzPts val="2800"/>
              <a:buNone/>
            </a:pPr>
            <a:endParaRPr/>
          </a:p>
        </p:txBody>
      </p:sp>
      <p:pic>
        <p:nvPicPr>
          <p:cNvPr id="249" name="Google Shape;249;p24"/>
          <p:cNvPicPr preferRelativeResize="0"/>
          <p:nvPr/>
        </p:nvPicPr>
        <p:blipFill rotWithShape="1">
          <a:blip r:embed="rId3">
            <a:alphaModFix/>
          </a:blip>
          <a:srcRect/>
          <a:stretch/>
        </p:blipFill>
        <p:spPr>
          <a:xfrm>
            <a:off x="1723676" y="3778056"/>
            <a:ext cx="7601532" cy="25338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Configurando</a:t>
            </a:r>
            <a:endParaRPr/>
          </a:p>
        </p:txBody>
      </p:sp>
      <p:sp>
        <p:nvSpPr>
          <p:cNvPr id="255" name="Google Shape;255;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Nela basta selecionar um nome e escolher do que ira tratar: como </a:t>
            </a:r>
            <a:endParaRPr/>
          </a:p>
          <a:p>
            <a:pPr marL="228600" lvl="0" indent="-228600" algn="l" rtl="0">
              <a:lnSpc>
                <a:spcPct val="90000"/>
              </a:lnSpc>
              <a:spcBef>
                <a:spcPts val="1000"/>
              </a:spcBef>
              <a:spcAft>
                <a:spcPts val="0"/>
              </a:spcAft>
              <a:buClr>
                <a:schemeClr val="dk1"/>
              </a:buClr>
              <a:buSzPts val="2800"/>
              <a:buChar char="•"/>
            </a:pPr>
            <a:r>
              <a:rPr lang="pt-BR"/>
              <a:t>Domain name; URL List e Regular Expresion</a:t>
            </a:r>
            <a:endParaRPr/>
          </a:p>
          <a:p>
            <a:pPr marL="228600" lvl="0" indent="-228600" algn="l" rtl="0">
              <a:lnSpc>
                <a:spcPct val="90000"/>
              </a:lnSpc>
              <a:spcBef>
                <a:spcPts val="1000"/>
              </a:spcBef>
              <a:spcAft>
                <a:spcPts val="0"/>
              </a:spcAft>
              <a:buClr>
                <a:schemeClr val="dk1"/>
              </a:buClr>
              <a:buSzPts val="2800"/>
              <a:buChar char="•"/>
            </a:pPr>
            <a:r>
              <a:rPr lang="pt-BR"/>
              <a:t>Pode escolher o modo de redirecionamento</a:t>
            </a:r>
            <a:endParaRPr/>
          </a:p>
          <a:p>
            <a:pPr marL="228600" lvl="0" indent="-228600" algn="l" rtl="0">
              <a:lnSpc>
                <a:spcPct val="90000"/>
              </a:lnSpc>
              <a:spcBef>
                <a:spcPts val="1000"/>
              </a:spcBef>
              <a:spcAft>
                <a:spcPts val="0"/>
              </a:spcAft>
              <a:buClr>
                <a:schemeClr val="dk1"/>
              </a:buClr>
              <a:buSzPts val="2800"/>
              <a:buChar char="•"/>
            </a:pPr>
            <a:r>
              <a:rPr lang="pt-BR"/>
              <a:t>E lembre de marcar a opção de Log caso deseje</a:t>
            </a:r>
            <a:endParaRPr/>
          </a:p>
        </p:txBody>
      </p:sp>
      <p:pic>
        <p:nvPicPr>
          <p:cNvPr id="256" name="Google Shape;256;p25"/>
          <p:cNvPicPr preferRelativeResize="0"/>
          <p:nvPr/>
        </p:nvPicPr>
        <p:blipFill rotWithShape="1">
          <a:blip r:embed="rId3">
            <a:alphaModFix/>
          </a:blip>
          <a:srcRect/>
          <a:stretch/>
        </p:blipFill>
        <p:spPr>
          <a:xfrm>
            <a:off x="838200" y="4001294"/>
            <a:ext cx="5886450" cy="2619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262" name="Google Shape;262;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Vá na aba de Common ACL e decida se aquela lista será permita ou bloqueada de acordo a sua vontade.</a:t>
            </a:r>
            <a:endParaRPr/>
          </a:p>
          <a:p>
            <a:pPr marL="228600" lvl="0" indent="-228600" algn="l" rtl="0">
              <a:lnSpc>
                <a:spcPct val="90000"/>
              </a:lnSpc>
              <a:spcBef>
                <a:spcPts val="1000"/>
              </a:spcBef>
              <a:spcAft>
                <a:spcPts val="0"/>
              </a:spcAft>
              <a:buClr>
                <a:schemeClr val="dk1"/>
              </a:buClr>
              <a:buSzPts val="2800"/>
              <a:buChar char="•"/>
            </a:pPr>
            <a:r>
              <a:rPr lang="pt-BR"/>
              <a:t>Aqui também é possível criar redirecionamento de pagina e ativar o </a:t>
            </a:r>
            <a:r>
              <a:rPr lang="pt-BR" i="1"/>
              <a:t>Safe Search </a:t>
            </a:r>
            <a:r>
              <a:rPr lang="pt-BR"/>
              <a:t>em alguns sites de pesquisa</a:t>
            </a:r>
            <a:endParaRPr/>
          </a:p>
        </p:txBody>
      </p:sp>
      <p:pic>
        <p:nvPicPr>
          <p:cNvPr id="263" name="Google Shape;263;p26"/>
          <p:cNvPicPr preferRelativeResize="0"/>
          <p:nvPr/>
        </p:nvPicPr>
        <p:blipFill rotWithShape="1">
          <a:blip r:embed="rId3">
            <a:alphaModFix/>
          </a:blip>
          <a:srcRect/>
          <a:stretch/>
        </p:blipFill>
        <p:spPr>
          <a:xfrm>
            <a:off x="1025049" y="3702200"/>
            <a:ext cx="8017062" cy="315579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269" name="Google Shape;26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Por fim, podemos ir na aba General settings e iniciar o SquidGuard</a:t>
            </a:r>
            <a:endParaRPr/>
          </a:p>
          <a:p>
            <a:pPr marL="228600" lvl="0" indent="-228600" algn="l" rtl="0">
              <a:lnSpc>
                <a:spcPct val="90000"/>
              </a:lnSpc>
              <a:spcBef>
                <a:spcPts val="1000"/>
              </a:spcBef>
              <a:spcAft>
                <a:spcPts val="0"/>
              </a:spcAft>
              <a:buClr>
                <a:srgbClr val="FF0000"/>
              </a:buClr>
              <a:buSzPts val="2800"/>
              <a:buChar char="•"/>
            </a:pPr>
            <a:r>
              <a:rPr lang="pt-BR" b="1">
                <a:solidFill>
                  <a:srgbClr val="FF0000"/>
                </a:solidFill>
              </a:rPr>
              <a:t>Importante</a:t>
            </a:r>
            <a:r>
              <a:rPr lang="pt-BR" b="1"/>
              <a:t>: toda configuração deve ser primeiro salva e depois ser clicado o botão de ativar para entrar em funcionamento.</a:t>
            </a:r>
            <a:endParaRPr/>
          </a:p>
        </p:txBody>
      </p:sp>
      <p:pic>
        <p:nvPicPr>
          <p:cNvPr id="270" name="Google Shape;270;p27"/>
          <p:cNvPicPr preferRelativeResize="0"/>
          <p:nvPr/>
        </p:nvPicPr>
        <p:blipFill rotWithShape="1">
          <a:blip r:embed="rId3">
            <a:alphaModFix/>
          </a:blip>
          <a:srcRect/>
          <a:stretch/>
        </p:blipFill>
        <p:spPr>
          <a:xfrm>
            <a:off x="838200" y="3214687"/>
            <a:ext cx="8484220" cy="342548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Black Lists</a:t>
            </a:r>
            <a:endParaRPr/>
          </a:p>
        </p:txBody>
      </p:sp>
      <p:sp>
        <p:nvSpPr>
          <p:cNvPr id="276" name="Google Shape;276;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As black lists são listas já prontas com milhares de sites subdividos em categorias que auxiliam na proteção do seu servidor</a:t>
            </a:r>
            <a:endParaRPr/>
          </a:p>
          <a:p>
            <a:pPr marL="228600" lvl="0" indent="-228600" algn="l" rtl="0">
              <a:lnSpc>
                <a:spcPct val="90000"/>
              </a:lnSpc>
              <a:spcBef>
                <a:spcPts val="1000"/>
              </a:spcBef>
              <a:spcAft>
                <a:spcPts val="0"/>
              </a:spcAft>
              <a:buClr>
                <a:schemeClr val="dk1"/>
              </a:buClr>
              <a:buSzPts val="2800"/>
              <a:buChar char="•"/>
            </a:pPr>
            <a:r>
              <a:rPr lang="pt-BR"/>
              <a:t>Sendo assim, cria um grande facilitador para que não se crie listas para cada site.</a:t>
            </a:r>
            <a:endParaRPr/>
          </a:p>
          <a:p>
            <a:pPr marL="228600" lvl="0" indent="-228600" algn="l" rtl="0">
              <a:lnSpc>
                <a:spcPct val="90000"/>
              </a:lnSpc>
              <a:spcBef>
                <a:spcPts val="1000"/>
              </a:spcBef>
              <a:spcAft>
                <a:spcPts val="0"/>
              </a:spcAft>
              <a:buClr>
                <a:schemeClr val="dk1"/>
              </a:buClr>
              <a:buSzPts val="2800"/>
              <a:buChar char="•"/>
            </a:pPr>
            <a:r>
              <a:rPr lang="pt-BR"/>
              <a:t>Porem é sempre útil verificar os principais sites que deseja bloquear se estão ou não inclusos em tal lista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Black Lists</a:t>
            </a:r>
            <a:endParaRPr/>
          </a:p>
        </p:txBody>
      </p:sp>
      <p:sp>
        <p:nvSpPr>
          <p:cNvPr id="282" name="Google Shape;282;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t>Em General basta acessar a parte de </a:t>
            </a:r>
            <a:r>
              <a:rPr lang="pt-BR" dirty="0" err="1"/>
              <a:t>blacklists</a:t>
            </a:r>
            <a:r>
              <a:rPr lang="pt-BR" dirty="0"/>
              <a:t>, </a:t>
            </a:r>
            <a:r>
              <a:rPr lang="pt-BR" dirty="0" err="1"/>
              <a:t>ativala</a:t>
            </a:r>
            <a:r>
              <a:rPr lang="pt-BR" dirty="0"/>
              <a:t> e utilizar o link da que for de seu agrado</a:t>
            </a:r>
            <a:endParaRPr dirty="0"/>
          </a:p>
          <a:p>
            <a:pPr marL="228600" lvl="0" indent="-228600" algn="l" rtl="0">
              <a:lnSpc>
                <a:spcPct val="90000"/>
              </a:lnSpc>
              <a:spcBef>
                <a:spcPts val="1000"/>
              </a:spcBef>
              <a:spcAft>
                <a:spcPts val="0"/>
              </a:spcAft>
              <a:buClr>
                <a:srgbClr val="FF0000"/>
              </a:buClr>
              <a:buSzPts val="2800"/>
              <a:buChar char="•"/>
            </a:pPr>
            <a:r>
              <a:rPr lang="pt-BR" dirty="0">
                <a:solidFill>
                  <a:srgbClr val="FF0000"/>
                </a:solidFill>
              </a:rPr>
              <a:t>ftp://ftp.ut-capitole.fr/pub/reseau/cache/squidGuard/squidGuard-1.2.0.tar.gz</a:t>
            </a:r>
            <a:endParaRPr dirty="0"/>
          </a:p>
        </p:txBody>
      </p:sp>
      <p:pic>
        <p:nvPicPr>
          <p:cNvPr id="283" name="Google Shape;283;p29"/>
          <p:cNvPicPr preferRelativeResize="0"/>
          <p:nvPr/>
        </p:nvPicPr>
        <p:blipFill rotWithShape="1">
          <a:blip r:embed="rId3">
            <a:alphaModFix/>
          </a:blip>
          <a:srcRect/>
          <a:stretch/>
        </p:blipFill>
        <p:spPr>
          <a:xfrm>
            <a:off x="1026460" y="3587236"/>
            <a:ext cx="6400800" cy="2038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Black Lists</a:t>
            </a:r>
            <a:endParaRPr/>
          </a:p>
        </p:txBody>
      </p:sp>
      <p:sp>
        <p:nvSpPr>
          <p:cNvPr id="289" name="Google Shape;289;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Elas apareceram em Common ACLs </a:t>
            </a:r>
            <a:endParaRPr/>
          </a:p>
        </p:txBody>
      </p:sp>
      <p:pic>
        <p:nvPicPr>
          <p:cNvPr id="290" name="Google Shape;290;p30"/>
          <p:cNvPicPr preferRelativeResize="0"/>
          <p:nvPr/>
        </p:nvPicPr>
        <p:blipFill rotWithShape="1">
          <a:blip r:embed="rId3">
            <a:alphaModFix/>
          </a:blip>
          <a:srcRect/>
          <a:stretch/>
        </p:blipFill>
        <p:spPr>
          <a:xfrm>
            <a:off x="733425" y="2472531"/>
            <a:ext cx="7327157" cy="41776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pt-BR"/>
              <a:t> </a:t>
            </a:r>
            <a:endParaRPr/>
          </a:p>
        </p:txBody>
      </p:sp>
      <p:sp>
        <p:nvSpPr>
          <p:cNvPr id="296" name="Google Shape;296;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pt-BR"/>
              <a:t> </a:t>
            </a:r>
            <a:endParaRPr/>
          </a:p>
        </p:txBody>
      </p:sp>
      <p:pic>
        <p:nvPicPr>
          <p:cNvPr id="297" name="Google Shape;297;p31" descr="LightSquid - a subdivision of Chaos Engine"/>
          <p:cNvPicPr preferRelativeResize="0"/>
          <p:nvPr/>
        </p:nvPicPr>
        <p:blipFill rotWithShape="1">
          <a:blip r:embed="rId3">
            <a:alphaModFix/>
          </a:blip>
          <a:srcRect/>
          <a:stretch/>
        </p:blipFill>
        <p:spPr>
          <a:xfrm>
            <a:off x="1286876" y="2684003"/>
            <a:ext cx="9027751" cy="305163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Sobre</a:t>
            </a:r>
            <a:endParaRPr/>
          </a:p>
        </p:txBody>
      </p:sp>
      <p:sp>
        <p:nvSpPr>
          <p:cNvPr id="303" name="Google Shape;30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Assim como o SARG funciona para o Squid no servidor Ubuntu, o LightSquid tem a mesma função, a de formalizar os dados em tabelas para uma melhor visualização dos logs.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Aplicando</a:t>
            </a:r>
            <a:endParaRPr/>
          </a:p>
        </p:txBody>
      </p:sp>
      <p:sp>
        <p:nvSpPr>
          <p:cNvPr id="309" name="Google Shape;309;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Basta seguir o caminho System &gt; Package Manager e procurar por LightSquid em Available Package</a:t>
            </a:r>
            <a:endParaRPr/>
          </a:p>
          <a:p>
            <a:pPr marL="228600" lvl="0" indent="-228600" algn="l" rtl="0">
              <a:lnSpc>
                <a:spcPct val="90000"/>
              </a:lnSpc>
              <a:spcBef>
                <a:spcPts val="1000"/>
              </a:spcBef>
              <a:spcAft>
                <a:spcPts val="0"/>
              </a:spcAft>
              <a:buClr>
                <a:schemeClr val="dk1"/>
              </a:buClr>
              <a:buSzPts val="2800"/>
              <a:buChar char="•"/>
            </a:pPr>
            <a:r>
              <a:rPr lang="pt-BR"/>
              <a:t>Basta clicar em instalar para iniciar.</a:t>
            </a:r>
            <a:endParaRPr/>
          </a:p>
        </p:txBody>
      </p:sp>
      <p:pic>
        <p:nvPicPr>
          <p:cNvPr id="310" name="Google Shape;310;p33"/>
          <p:cNvPicPr preferRelativeResize="0"/>
          <p:nvPr/>
        </p:nvPicPr>
        <p:blipFill rotWithShape="1">
          <a:blip r:embed="rId3">
            <a:alphaModFix/>
          </a:blip>
          <a:srcRect/>
          <a:stretch/>
        </p:blipFill>
        <p:spPr>
          <a:xfrm>
            <a:off x="1434353" y="3239532"/>
            <a:ext cx="5275848" cy="361846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Utilizando</a:t>
            </a:r>
            <a:endParaRPr/>
          </a:p>
        </p:txBody>
      </p:sp>
      <p:sp>
        <p:nvSpPr>
          <p:cNvPr id="316" name="Google Shape;316;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Basta acessar Status &gt; Squid Proxy Reports que já estará habilitado e pronto para utilização.</a:t>
            </a:r>
            <a:endParaRPr/>
          </a:p>
        </p:txBody>
      </p:sp>
      <p:pic>
        <p:nvPicPr>
          <p:cNvPr id="317" name="Google Shape;317;p34"/>
          <p:cNvPicPr preferRelativeResize="0"/>
          <p:nvPr/>
        </p:nvPicPr>
        <p:blipFill rotWithShape="1">
          <a:blip r:embed="rId3">
            <a:alphaModFix/>
          </a:blip>
          <a:srcRect/>
          <a:stretch/>
        </p:blipFill>
        <p:spPr>
          <a:xfrm>
            <a:off x="1014664" y="2791725"/>
            <a:ext cx="5114842" cy="389783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323" name="Google Shape;32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Primeiramente verifique no Squid se o log está configurado para ser salvo em /var/squid/logs</a:t>
            </a:r>
            <a:endParaRPr/>
          </a:p>
          <a:p>
            <a:pPr marL="228600" lvl="0" indent="-228600" algn="l" rtl="0">
              <a:lnSpc>
                <a:spcPct val="90000"/>
              </a:lnSpc>
              <a:spcBef>
                <a:spcPts val="1000"/>
              </a:spcBef>
              <a:spcAft>
                <a:spcPts val="0"/>
              </a:spcAft>
              <a:buClr>
                <a:schemeClr val="dk1"/>
              </a:buClr>
              <a:buSzPts val="2800"/>
              <a:buChar char="•"/>
            </a:pPr>
            <a:r>
              <a:rPr lang="pt-BR"/>
              <a:t>E se o seu proxy está como transparente, caso não esteja configure também para a interface proxy funcionar em loopback.</a:t>
            </a:r>
            <a:endParaRPr/>
          </a:p>
          <a:p>
            <a:pPr marL="228600" lvl="0" indent="-228600" algn="l" rtl="0">
              <a:lnSpc>
                <a:spcPct val="90000"/>
              </a:lnSpc>
              <a:spcBef>
                <a:spcPts val="1000"/>
              </a:spcBef>
              <a:spcAft>
                <a:spcPts val="0"/>
              </a:spcAft>
              <a:buClr>
                <a:schemeClr val="dk1"/>
              </a:buClr>
              <a:buSzPts val="2800"/>
              <a:buChar char="•"/>
            </a:pPr>
            <a:r>
              <a:rPr lang="pt-BR"/>
              <a:t>Salve as configurações caso tenha feita alguma mudança.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329" name="Google Shape;329;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Na primeira etapa podemos deixar o padrão. Nela esta mostrando a porta que será utilizada, se usará o SSL e o login padrão.</a:t>
            </a:r>
            <a:endParaRPr/>
          </a:p>
        </p:txBody>
      </p:sp>
      <p:pic>
        <p:nvPicPr>
          <p:cNvPr id="330" name="Google Shape;330;p36"/>
          <p:cNvPicPr preferRelativeResize="0"/>
          <p:nvPr/>
        </p:nvPicPr>
        <p:blipFill rotWithShape="1">
          <a:blip r:embed="rId3">
            <a:alphaModFix/>
          </a:blip>
          <a:srcRect/>
          <a:stretch/>
        </p:blipFill>
        <p:spPr>
          <a:xfrm>
            <a:off x="838199" y="2722646"/>
            <a:ext cx="6761691" cy="358925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336" name="Google Shape;336;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Na parte de template, como o nome já diz, será configurada a parte visual, podendo mudar o layout, a linguagem e algumas cores.</a:t>
            </a:r>
            <a:endParaRPr/>
          </a:p>
        </p:txBody>
      </p:sp>
      <p:pic>
        <p:nvPicPr>
          <p:cNvPr id="337" name="Google Shape;337;p37"/>
          <p:cNvPicPr preferRelativeResize="0"/>
          <p:nvPr/>
        </p:nvPicPr>
        <p:blipFill rotWithShape="1">
          <a:blip r:embed="rId3">
            <a:alphaModFix/>
          </a:blip>
          <a:srcRect/>
          <a:stretch/>
        </p:blipFill>
        <p:spPr>
          <a:xfrm>
            <a:off x="1060533" y="2910890"/>
            <a:ext cx="7774656" cy="25915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343" name="Google Shape;34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Por fim, pode se escolher o método que ira mostrado os endereços, se há algum IP para ser ignorado e a taxa de frequencia que será feita atualizações na tabela</a:t>
            </a:r>
            <a:endParaRPr/>
          </a:p>
        </p:txBody>
      </p:sp>
      <p:pic>
        <p:nvPicPr>
          <p:cNvPr id="344" name="Google Shape;344;p38"/>
          <p:cNvPicPr preferRelativeResize="0"/>
          <p:nvPr/>
        </p:nvPicPr>
        <p:blipFill rotWithShape="1">
          <a:blip r:embed="rId3">
            <a:alphaModFix/>
          </a:blip>
          <a:srcRect/>
          <a:stretch/>
        </p:blipFill>
        <p:spPr>
          <a:xfrm>
            <a:off x="1262564" y="3257550"/>
            <a:ext cx="5495925" cy="3390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Configuração</a:t>
            </a:r>
            <a:endParaRPr/>
          </a:p>
        </p:txBody>
      </p:sp>
      <p:sp>
        <p:nvSpPr>
          <p:cNvPr id="350" name="Google Shape;350;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Na parte de “Refresh” pode se atualizar o arquivo de log atual na mesma hora independendo da faixa de atualização pré-definida, </a:t>
            </a:r>
            <a:endParaRPr/>
          </a:p>
          <a:p>
            <a:pPr marL="228600" lvl="0" indent="-228600" algn="l" rtl="0">
              <a:lnSpc>
                <a:spcPct val="90000"/>
              </a:lnSpc>
              <a:spcBef>
                <a:spcPts val="1000"/>
              </a:spcBef>
              <a:spcAft>
                <a:spcPts val="0"/>
              </a:spcAft>
              <a:buClr>
                <a:schemeClr val="dk1"/>
              </a:buClr>
              <a:buSzPts val="2800"/>
              <a:buChar char="•"/>
            </a:pPr>
            <a:r>
              <a:rPr lang="pt-BR"/>
              <a:t>E em “Refresh Full” funciona como o refresh, porem irá atualizar todos os arquivos já rotacionados.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Acessando</a:t>
            </a:r>
            <a:endParaRPr/>
          </a:p>
        </p:txBody>
      </p:sp>
      <p:sp>
        <p:nvSpPr>
          <p:cNvPr id="356" name="Google Shape;356;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Ainda na pagina de Configuração do LightSquid, basta clicar em Open LightSquid logo no inicio para abri-lo. </a:t>
            </a:r>
            <a:r>
              <a:rPr lang="pt-BR" sz="1800"/>
              <a:t>*Caso gere erro, de um refresh</a:t>
            </a:r>
            <a:endParaRPr/>
          </a:p>
        </p:txBody>
      </p:sp>
      <p:pic>
        <p:nvPicPr>
          <p:cNvPr id="357" name="Google Shape;357;p40"/>
          <p:cNvPicPr preferRelativeResize="0"/>
          <p:nvPr/>
        </p:nvPicPr>
        <p:blipFill rotWithShape="1">
          <a:blip r:embed="rId3">
            <a:alphaModFix/>
          </a:blip>
          <a:srcRect/>
          <a:stretch/>
        </p:blipFill>
        <p:spPr>
          <a:xfrm>
            <a:off x="1034214" y="2914650"/>
            <a:ext cx="3257550" cy="514350"/>
          </a:xfrm>
          <a:prstGeom prst="rect">
            <a:avLst/>
          </a:prstGeom>
          <a:noFill/>
          <a:ln>
            <a:noFill/>
          </a:ln>
        </p:spPr>
      </p:pic>
      <p:pic>
        <p:nvPicPr>
          <p:cNvPr id="358" name="Google Shape;358;p40"/>
          <p:cNvPicPr preferRelativeResize="0"/>
          <p:nvPr/>
        </p:nvPicPr>
        <p:blipFill rotWithShape="1">
          <a:blip r:embed="rId4">
            <a:alphaModFix/>
          </a:blip>
          <a:srcRect/>
          <a:stretch/>
        </p:blipFill>
        <p:spPr>
          <a:xfrm>
            <a:off x="1849353" y="3802856"/>
            <a:ext cx="8721915" cy="250904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Exibição</a:t>
            </a:r>
            <a:endParaRPr/>
          </a:p>
        </p:txBody>
      </p:sp>
      <p:sp>
        <p:nvSpPr>
          <p:cNvPr id="364" name="Google Shape;364;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65" name="Google Shape;365;p41"/>
          <p:cNvPicPr preferRelativeResize="0"/>
          <p:nvPr/>
        </p:nvPicPr>
        <p:blipFill rotWithShape="1">
          <a:blip r:embed="rId3">
            <a:alphaModFix/>
          </a:blip>
          <a:srcRect/>
          <a:stretch/>
        </p:blipFill>
        <p:spPr>
          <a:xfrm>
            <a:off x="838200" y="1690687"/>
            <a:ext cx="11285302" cy="4351337"/>
          </a:xfrm>
          <a:prstGeom prst="rect">
            <a:avLst/>
          </a:prstGeom>
          <a:noFill/>
          <a:ln>
            <a:noFill/>
          </a:ln>
        </p:spPr>
      </p:pic>
    </p:spTree>
  </p:cSld>
  <p:clrMapOvr>
    <a:masterClrMapping/>
  </p:clrMapOvr>
</p:sld>
</file>

<file path=ppt/theme/theme1.xml><?xml version="1.0" encoding="utf-8"?>
<a:theme xmlns:a="http://schemas.openxmlformats.org/drawingml/2006/main" name="Tema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1406</Words>
  <Application>Microsoft Office PowerPoint</Application>
  <PresentationFormat>Widescreen</PresentationFormat>
  <Paragraphs>125</Paragraphs>
  <Slides>41</Slides>
  <Notes>41</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41</vt:i4>
      </vt:variant>
    </vt:vector>
  </HeadingPairs>
  <TitlesOfParts>
    <vt:vector size="44" baseType="lpstr">
      <vt:lpstr>Arial</vt:lpstr>
      <vt:lpstr>Calibri</vt:lpstr>
      <vt:lpstr>Tema1</vt:lpstr>
      <vt:lpstr>Squid no PFSense</vt:lpstr>
      <vt:lpstr>Instalação</vt:lpstr>
      <vt:lpstr>Instalação</vt:lpstr>
      <vt:lpstr>Instalação</vt:lpstr>
      <vt:lpstr>Instalação</vt:lpstr>
      <vt:lpstr>Configurando</vt:lpstr>
      <vt:lpstr>Configurando</vt:lpstr>
      <vt:lpstr>Configurando</vt:lpstr>
      <vt:lpstr>Configurando</vt:lpstr>
      <vt:lpstr>Configurando</vt:lpstr>
      <vt:lpstr>Configurando</vt:lpstr>
      <vt:lpstr>Configurando o usuário</vt:lpstr>
      <vt:lpstr>Interceptação de trafego (SSL e TSL)</vt:lpstr>
      <vt:lpstr>Configurando</vt:lpstr>
      <vt:lpstr>Configurando</vt:lpstr>
      <vt:lpstr>Apresentação do PowerPoint</vt:lpstr>
      <vt:lpstr>Instalando</vt:lpstr>
      <vt:lpstr>Criando usuário e senha para bloqueio de internet</vt:lpstr>
      <vt:lpstr>Criando usuário e senha para bloqueio de internet</vt:lpstr>
      <vt:lpstr> </vt:lpstr>
      <vt:lpstr>Sobre</vt:lpstr>
      <vt:lpstr>Aplicando</vt:lpstr>
      <vt:lpstr>Instalando</vt:lpstr>
      <vt:lpstr>Configurando</vt:lpstr>
      <vt:lpstr>Configurando</vt:lpstr>
      <vt:lpstr>Configuração</vt:lpstr>
      <vt:lpstr>Configuração</vt:lpstr>
      <vt:lpstr>Black Lists</vt:lpstr>
      <vt:lpstr>Black Lists</vt:lpstr>
      <vt:lpstr>Black Lists</vt:lpstr>
      <vt:lpstr> </vt:lpstr>
      <vt:lpstr>Sobre</vt:lpstr>
      <vt:lpstr>Aplicando</vt:lpstr>
      <vt:lpstr>Utilizando</vt:lpstr>
      <vt:lpstr>Configuração</vt:lpstr>
      <vt:lpstr>Configuração</vt:lpstr>
      <vt:lpstr>Configuração</vt:lpstr>
      <vt:lpstr>Configuração</vt:lpstr>
      <vt:lpstr>Configuração</vt:lpstr>
      <vt:lpstr>Acessando</vt:lpstr>
      <vt:lpstr>Exibição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Hugo X</dc:creator>
  <cp:lastModifiedBy>HUGO SANTOS MAGALHAES</cp:lastModifiedBy>
  <cp:revision>1</cp:revision>
  <dcterms:created xsi:type="dcterms:W3CDTF">2022-04-28T17:14:06Z</dcterms:created>
  <dcterms:modified xsi:type="dcterms:W3CDTF">2024-06-11T22:13:19Z</dcterms:modified>
</cp:coreProperties>
</file>