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6" roundtripDataSignature="AMtx7mjrbHz2ZddwXZSeid0m6MrK/zUsb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2" d="100"/>
          <a:sy n="72" d="100"/>
        </p:scale>
        <p:origin x="81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4" name="Google Shape;214;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8" name="Google Shape;228;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5" name="Google Shape;235;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0" name="Google Shape;250;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6" name="Google Shape;276;p2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2" name="Google Shape;282;p3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9" name="Google Shape;289;p2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5" name="Google Shape;295;p3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2" name="Google Shape;302;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de Título" type="title">
  <p:cSld name="TITLE">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3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e Conteúdo" type="obj">
  <p:cSld name="OBJECT">
    <p:spTree>
      <p:nvGrpSpPr>
        <p:cNvPr id="1" name="Shape 17"/>
        <p:cNvGrpSpPr/>
        <p:nvPr/>
      </p:nvGrpSpPr>
      <p:grpSpPr>
        <a:xfrm>
          <a:off x="0" y="0"/>
          <a:ext cx="0" cy="0"/>
          <a:chOff x="0" y="0"/>
          <a:chExt cx="0" cy="0"/>
        </a:xfrm>
      </p:grpSpPr>
      <p:sp>
        <p:nvSpPr>
          <p:cNvPr id="18" name="Google Shape;18;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beçalho da Seção" type="secHead">
  <p:cSld name="SECTION_HEADER">
    <p:spTree>
      <p:nvGrpSpPr>
        <p:cNvPr id="1" name="Shape 23"/>
        <p:cNvGrpSpPr/>
        <p:nvPr/>
      </p:nvGrpSpPr>
      <p:grpSpPr>
        <a:xfrm>
          <a:off x="0" y="0"/>
          <a:ext cx="0" cy="0"/>
          <a:chOff x="0" y="0"/>
          <a:chExt cx="0" cy="0"/>
        </a:xfrm>
      </p:grpSpPr>
      <p:sp>
        <p:nvSpPr>
          <p:cNvPr id="24" name="Google Shape;24;p3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3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uas Partes de Conteúdo" type="twoObj">
  <p:cSld name="TWO_OBJECTS">
    <p:spTree>
      <p:nvGrpSpPr>
        <p:cNvPr id="1" name="Shape 29"/>
        <p:cNvGrpSpPr/>
        <p:nvPr/>
      </p:nvGrpSpPr>
      <p:grpSpPr>
        <a:xfrm>
          <a:off x="0" y="0"/>
          <a:ext cx="0" cy="0"/>
          <a:chOff x="0" y="0"/>
          <a:chExt cx="0" cy="0"/>
        </a:xfrm>
      </p:grpSpPr>
      <p:sp>
        <p:nvSpPr>
          <p:cNvPr id="30" name="Google Shape;30;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3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3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ção" type="twoTxTwoObj">
  <p:cSld name="TWO_OBJECTS_WITH_TEXT">
    <p:spTree>
      <p:nvGrpSpPr>
        <p:cNvPr id="1" name="Shape 36"/>
        <p:cNvGrpSpPr/>
        <p:nvPr/>
      </p:nvGrpSpPr>
      <p:grpSpPr>
        <a:xfrm>
          <a:off x="0" y="0"/>
          <a:ext cx="0" cy="0"/>
          <a:chOff x="0" y="0"/>
          <a:chExt cx="0" cy="0"/>
        </a:xfrm>
      </p:grpSpPr>
      <p:sp>
        <p:nvSpPr>
          <p:cNvPr id="37" name="Google Shape;37;p3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3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3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3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3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mente Título" type="titleOnly">
  <p:cSld name="TITLE_ONLY">
    <p:spTree>
      <p:nvGrpSpPr>
        <p:cNvPr id="1" name="Shape 45"/>
        <p:cNvGrpSpPr/>
        <p:nvPr/>
      </p:nvGrpSpPr>
      <p:grpSpPr>
        <a:xfrm>
          <a:off x="0" y="0"/>
          <a:ext cx="0" cy="0"/>
          <a:chOff x="0" y="0"/>
          <a:chExt cx="0" cy="0"/>
        </a:xfrm>
      </p:grpSpPr>
      <p:sp>
        <p:nvSpPr>
          <p:cNvPr id="46" name="Google Shape;46;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m branco" type="blank">
  <p:cSld name="BLANK">
    <p:spTree>
      <p:nvGrpSpPr>
        <p:cNvPr id="1" name="Shape 50"/>
        <p:cNvGrpSpPr/>
        <p:nvPr/>
      </p:nvGrpSpPr>
      <p:grpSpPr>
        <a:xfrm>
          <a:off x="0" y="0"/>
          <a:ext cx="0" cy="0"/>
          <a:chOff x="0" y="0"/>
          <a:chExt cx="0" cy="0"/>
        </a:xfrm>
      </p:grpSpPr>
      <p:sp>
        <p:nvSpPr>
          <p:cNvPr id="51" name="Google Shape;51;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údo com Legenda" type="objTx">
  <p:cSld name="OBJECT_WITH_CAPTION_TEXT">
    <p:spTree>
      <p:nvGrpSpPr>
        <p:cNvPr id="1" name="Shape 54"/>
        <p:cNvGrpSpPr/>
        <p:nvPr/>
      </p:nvGrpSpPr>
      <p:grpSpPr>
        <a:xfrm>
          <a:off x="0" y="0"/>
          <a:ext cx="0" cy="0"/>
          <a:chOff x="0" y="0"/>
          <a:chExt cx="0" cy="0"/>
        </a:xfrm>
      </p:grpSpPr>
      <p:sp>
        <p:nvSpPr>
          <p:cNvPr id="55" name="Google Shape;55;p4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4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4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m com Legenda" type="picTx">
  <p:cSld name="PICTURE_WITH_CAPTION_TEXT">
    <p:spTree>
      <p:nvGrpSpPr>
        <p:cNvPr id="1" name="Shape 61"/>
        <p:cNvGrpSpPr/>
        <p:nvPr/>
      </p:nvGrpSpPr>
      <p:grpSpPr>
        <a:xfrm>
          <a:off x="0" y="0"/>
          <a:ext cx="0" cy="0"/>
          <a:chOff x="0" y="0"/>
          <a:chExt cx="0" cy="0"/>
        </a:xfrm>
      </p:grpSpPr>
      <p:sp>
        <p:nvSpPr>
          <p:cNvPr id="62" name="Google Shape;62;p4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43"/>
          <p:cNvSpPr>
            <a:spLocks noGrp="1"/>
          </p:cNvSpPr>
          <p:nvPr>
            <p:ph type="pic" idx="2"/>
          </p:nvPr>
        </p:nvSpPr>
        <p:spPr>
          <a:xfrm>
            <a:off x="5183188" y="987425"/>
            <a:ext cx="6172200" cy="4873625"/>
          </a:xfrm>
          <a:prstGeom prst="rect">
            <a:avLst/>
          </a:prstGeom>
          <a:noFill/>
          <a:ln>
            <a:noFill/>
          </a:ln>
        </p:spPr>
      </p:sp>
      <p:sp>
        <p:nvSpPr>
          <p:cNvPr id="64" name="Google Shape;64;p4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e Texto Vertical" type="vertTx">
  <p:cSld name="VERTICAL_TEXT">
    <p:spTree>
      <p:nvGrpSpPr>
        <p:cNvPr id="1" name="Shape 68"/>
        <p:cNvGrpSpPr/>
        <p:nvPr/>
      </p:nvGrpSpPr>
      <p:grpSpPr>
        <a:xfrm>
          <a:off x="0" y="0"/>
          <a:ext cx="0" cy="0"/>
          <a:chOff x="0" y="0"/>
          <a:chExt cx="0" cy="0"/>
        </a:xfrm>
      </p:grpSpPr>
      <p:sp>
        <p:nvSpPr>
          <p:cNvPr id="69" name="Google Shape;69;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4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exto e Título Vertical" type="vertTitleAndTx">
  <p:cSld name="VERTICAL_TITLE_AND_VERTICAL_TEXT">
    <p:spTree>
      <p:nvGrpSpPr>
        <p:cNvPr id="1" name="Shape 74"/>
        <p:cNvGrpSpPr/>
        <p:nvPr/>
      </p:nvGrpSpPr>
      <p:grpSpPr>
        <a:xfrm>
          <a:off x="0" y="0"/>
          <a:ext cx="0" cy="0"/>
          <a:chOff x="0" y="0"/>
          <a:chExt cx="0" cy="0"/>
        </a:xfrm>
      </p:grpSpPr>
      <p:sp>
        <p:nvSpPr>
          <p:cNvPr id="75" name="Google Shape;75;p4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4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3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pfsense.org/download/"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192.168.1.1/"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endParaRPr/>
          </a:p>
        </p:txBody>
      </p:sp>
      <p:sp>
        <p:nvSpPr>
          <p:cNvPr id="85" name="Google Shape;85;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pt-BR"/>
              <a:t>pfsense</a:t>
            </a:r>
            <a:endParaRPr/>
          </a:p>
        </p:txBody>
      </p:sp>
      <p:pic>
        <p:nvPicPr>
          <p:cNvPr id="86" name="Google Shape;86;p1" descr="pfSense – Instalando e configurando o pacote do Sarg (relatórios do proxy)"/>
          <p:cNvPicPr preferRelativeResize="0"/>
          <p:nvPr/>
        </p:nvPicPr>
        <p:blipFill rotWithShape="1">
          <a:blip r:embed="rId3">
            <a:alphaModFix/>
          </a:blip>
          <a:srcRect l="9271" t="24539" r="8547" b="33393"/>
          <a:stretch/>
        </p:blipFill>
        <p:spPr>
          <a:xfrm>
            <a:off x="1596788" y="1897039"/>
            <a:ext cx="9098507" cy="262037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Sobre</a:t>
            </a:r>
            <a:endParaRPr/>
          </a:p>
        </p:txBody>
      </p:sp>
      <p:sp>
        <p:nvSpPr>
          <p:cNvPr id="92" name="Google Shape;92;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77500" lnSpcReduction="20000"/>
          </a:bodyPr>
          <a:lstStyle/>
          <a:p>
            <a:pPr marL="228600" lvl="0" indent="-228600" algn="l" rtl="0">
              <a:lnSpc>
                <a:spcPct val="90000"/>
              </a:lnSpc>
              <a:spcBef>
                <a:spcPts val="0"/>
              </a:spcBef>
              <a:spcAft>
                <a:spcPts val="0"/>
              </a:spcAft>
              <a:buClr>
                <a:schemeClr val="dk1"/>
              </a:buClr>
              <a:buSzPct val="100000"/>
              <a:buChar char="•"/>
            </a:pPr>
            <a:r>
              <a:rPr lang="pt-BR"/>
              <a:t>O pfSense é uma solução de Firewall largamente adotada e uma das mais robustas entre as opções OpenSource que substitui com sucesso – na maioria das necessidades – os principais firewall comerciais existentes no mercado como CheckPoint, Sonicwall, Juniper, entre outros.</a:t>
            </a:r>
            <a:endParaRPr/>
          </a:p>
          <a:p>
            <a:pPr marL="228600" lvl="0" indent="-228600" algn="l" rtl="0">
              <a:lnSpc>
                <a:spcPct val="90000"/>
              </a:lnSpc>
              <a:spcBef>
                <a:spcPts val="1000"/>
              </a:spcBef>
              <a:spcAft>
                <a:spcPts val="0"/>
              </a:spcAft>
              <a:buClr>
                <a:schemeClr val="dk1"/>
              </a:buClr>
              <a:buSzPct val="100000"/>
              <a:buChar char="•"/>
            </a:pPr>
            <a:r>
              <a:rPr lang="pt-BR"/>
              <a:t>O pfSense também possui vários pacotes de software livre de terceiros para estender suas funcionalidades, tais como Snort e Suricata para detecção e prevenção de intrusão, OpenBGPD, Squid com cache e proxy reverso com SquidGuard, antivírus com ClamWin, além de vários outros pacotes de monitoramento e estatísticas.</a:t>
            </a:r>
            <a:endParaRPr/>
          </a:p>
          <a:p>
            <a:pPr marL="228600" lvl="0" indent="-228600" algn="l" rtl="0">
              <a:lnSpc>
                <a:spcPct val="90000"/>
              </a:lnSpc>
              <a:spcBef>
                <a:spcPts val="1000"/>
              </a:spcBef>
              <a:spcAft>
                <a:spcPts val="0"/>
              </a:spcAft>
              <a:buClr>
                <a:schemeClr val="dk1"/>
              </a:buClr>
              <a:buSzPct val="100000"/>
              <a:buChar char="•"/>
            </a:pPr>
            <a:r>
              <a:rPr lang="pt-BR"/>
              <a:t>Ele é um software com a licença BSD, ou seja você não precisa pagar licenças de uso. Além de ser um software gratuito, seus pacotes adicionais permite que ele seja considerado um UTM (Unified Threat Management, “Central Unificada de Gerenciamento de Ameaças”), já que pode-se realizar com o pfSense muitas das atividades que esperamos de sistemas com esta funcionalidade. Ele também possui relatórios em Gráficos RRD, Modelagem de tráfego e filtragem e usa informações em tempo real. Todos os recursos disponíveis são gerenciados exclusivamente por uma interface Web de fácil interpretação.  </a:t>
            </a:r>
            <a:endParaRPr/>
          </a:p>
          <a:p>
            <a:pPr marL="228600" lvl="0" indent="-90804" algn="l" rtl="0">
              <a:lnSpc>
                <a:spcPct val="90000"/>
              </a:lnSpc>
              <a:spcBef>
                <a:spcPts val="1000"/>
              </a:spcBef>
              <a:spcAft>
                <a:spcPts val="0"/>
              </a:spcAft>
              <a:buClr>
                <a:schemeClr val="dk1"/>
              </a:buClr>
              <a:buSzPct val="100000"/>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b="1"/>
              <a:t>Principais Recursos</a:t>
            </a:r>
            <a:endParaRPr/>
          </a:p>
        </p:txBody>
      </p:sp>
      <p:sp>
        <p:nvSpPr>
          <p:cNvPr id="98" name="Google Shape;98;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55000" lnSpcReduction="20000"/>
          </a:bodyPr>
          <a:lstStyle/>
          <a:p>
            <a:pPr marL="228600" lvl="0" indent="-228600" algn="l" rtl="0">
              <a:lnSpc>
                <a:spcPct val="90000"/>
              </a:lnSpc>
              <a:spcBef>
                <a:spcPts val="0"/>
              </a:spcBef>
              <a:spcAft>
                <a:spcPts val="0"/>
              </a:spcAft>
              <a:buClr>
                <a:schemeClr val="dk1"/>
              </a:buClr>
              <a:buSzPct val="100000"/>
              <a:buChar char="•"/>
            </a:pPr>
            <a:r>
              <a:rPr lang="pt-BR" b="1"/>
              <a:t>DashBoard</a:t>
            </a:r>
            <a:endParaRPr/>
          </a:p>
          <a:p>
            <a:pPr marL="228600" lvl="0" indent="-228600" algn="l" rtl="0">
              <a:lnSpc>
                <a:spcPct val="90000"/>
              </a:lnSpc>
              <a:spcBef>
                <a:spcPts val="1000"/>
              </a:spcBef>
              <a:spcAft>
                <a:spcPts val="0"/>
              </a:spcAft>
              <a:buClr>
                <a:schemeClr val="dk1"/>
              </a:buClr>
              <a:buSzPct val="100000"/>
              <a:buChar char="•"/>
            </a:pPr>
            <a:r>
              <a:rPr lang="pt-BR"/>
              <a:t>O PfSense possuí um Dashboard onde você pode configurar quais informações quer mostrar de forma bem flexível. Isso permite um controle e monitoramento completo da sua solução de firewall.</a:t>
            </a:r>
            <a:endParaRPr/>
          </a:p>
          <a:p>
            <a:pPr marL="228600" lvl="0" indent="-228600" algn="l" rtl="0">
              <a:lnSpc>
                <a:spcPct val="90000"/>
              </a:lnSpc>
              <a:spcBef>
                <a:spcPts val="1000"/>
              </a:spcBef>
              <a:spcAft>
                <a:spcPts val="0"/>
              </a:spcAft>
              <a:buClr>
                <a:schemeClr val="dk1"/>
              </a:buClr>
              <a:buSzPct val="100000"/>
              <a:buChar char="•"/>
            </a:pPr>
            <a:r>
              <a:rPr lang="pt-BR" b="1"/>
              <a:t>High Availability</a:t>
            </a:r>
            <a:endParaRPr/>
          </a:p>
          <a:p>
            <a:pPr marL="228600" lvl="0" indent="-228600" algn="l" rtl="0">
              <a:lnSpc>
                <a:spcPct val="90000"/>
              </a:lnSpc>
              <a:spcBef>
                <a:spcPts val="1000"/>
              </a:spcBef>
              <a:spcAft>
                <a:spcPts val="0"/>
              </a:spcAft>
              <a:buClr>
                <a:schemeClr val="dk1"/>
              </a:buClr>
              <a:buSzPct val="100000"/>
              <a:buChar char="•"/>
            </a:pPr>
            <a:r>
              <a:rPr lang="pt-BR"/>
              <a:t>A combinação de CARP, pfsync, e a sincronização de configuração fornece a funcionalidade de alta disponibilidade no PfSense. Você pode configurar dois ou mais firewalls como um grupo de falha. Se o firewall primário ficar offline o secundário se torna ativo de forma automática.</a:t>
            </a:r>
            <a:br>
              <a:rPr lang="pt-BR"/>
            </a:br>
            <a:r>
              <a:rPr lang="pt-BR"/>
              <a:t>O pfSense inclui a capacidade de sincronização de configuração, ou seja, qualquer  alteração de configuração feita no primário automaticamente é sincronizada com o firewall secundário. A tabela de estado do firewall é replicada para todos os firewalls de failover configurado. Isso significa que suas conexões existentes serão mantidas em caso de falha, o que é importante para evitar interrupções de rede impactando o negócio da empresa.</a:t>
            </a:r>
            <a:endParaRPr/>
          </a:p>
          <a:p>
            <a:pPr marL="228600" lvl="0" indent="-228600" algn="l" rtl="0">
              <a:lnSpc>
                <a:spcPct val="90000"/>
              </a:lnSpc>
              <a:spcBef>
                <a:spcPts val="1000"/>
              </a:spcBef>
              <a:spcAft>
                <a:spcPts val="0"/>
              </a:spcAft>
              <a:buClr>
                <a:schemeClr val="dk1"/>
              </a:buClr>
              <a:buSzPct val="100000"/>
              <a:buChar char="•"/>
            </a:pPr>
            <a:r>
              <a:rPr lang="pt-BR" b="1"/>
              <a:t>Multi-WAN</a:t>
            </a:r>
            <a:endParaRPr/>
          </a:p>
          <a:p>
            <a:pPr marL="228600" lvl="0" indent="-228600" algn="l" rtl="0">
              <a:lnSpc>
                <a:spcPct val="90000"/>
              </a:lnSpc>
              <a:spcBef>
                <a:spcPts val="1000"/>
              </a:spcBef>
              <a:spcAft>
                <a:spcPts val="0"/>
              </a:spcAft>
              <a:buClr>
                <a:schemeClr val="dk1"/>
              </a:buClr>
              <a:buSzPct val="100000"/>
              <a:buChar char="•"/>
            </a:pPr>
            <a:r>
              <a:rPr lang="pt-BR"/>
              <a:t>A funcionalidade Multi-WAN permite o uso de múltiplas conexões de Internet, com balanceamento de carga e/ou failover, para melhorar a disponibilidade de Internet e a distribuição do uso da banda.</a:t>
            </a:r>
            <a:endParaRPr/>
          </a:p>
          <a:p>
            <a:pPr marL="228600" lvl="0" indent="-228600" algn="l" rtl="0">
              <a:lnSpc>
                <a:spcPct val="90000"/>
              </a:lnSpc>
              <a:spcBef>
                <a:spcPts val="1000"/>
              </a:spcBef>
              <a:spcAft>
                <a:spcPts val="0"/>
              </a:spcAft>
              <a:buClr>
                <a:schemeClr val="dk1"/>
              </a:buClr>
              <a:buSzPct val="100000"/>
              <a:buChar char="•"/>
            </a:pPr>
            <a:r>
              <a:rPr lang="pt-BR" b="1"/>
              <a:t>Virtual Private Network (VPN)</a:t>
            </a:r>
            <a:endParaRPr/>
          </a:p>
          <a:p>
            <a:pPr marL="228600" lvl="0" indent="-228600" algn="l" rtl="0">
              <a:lnSpc>
                <a:spcPct val="90000"/>
              </a:lnSpc>
              <a:spcBef>
                <a:spcPts val="1000"/>
              </a:spcBef>
              <a:spcAft>
                <a:spcPts val="0"/>
              </a:spcAft>
              <a:buClr>
                <a:schemeClr val="dk1"/>
              </a:buClr>
              <a:buSzPct val="100000"/>
              <a:buChar char="•"/>
            </a:pPr>
            <a:r>
              <a:rPr lang="pt-BR"/>
              <a:t>O pfSense oferece três opções para conectividade de VPN, IPsec, OpenVPN, e PPTP que são os principais protocolos de VPN usados no mercado. Na parte de monitoramento é possível obter um relatório de todos os usuários conectados na VPN em tempo real, como também interromper uma conexão específica trazendo um controle maior para o SysAdmin.</a:t>
            </a:r>
            <a:endParaRPr/>
          </a:p>
          <a:p>
            <a:pPr marL="228600" lvl="0" indent="-130810" algn="l" rtl="0">
              <a:lnSpc>
                <a:spcPct val="90000"/>
              </a:lnSpc>
              <a:spcBef>
                <a:spcPts val="1000"/>
              </a:spcBef>
              <a:spcAft>
                <a:spcPts val="0"/>
              </a:spcAft>
              <a:buClr>
                <a:schemeClr val="dk1"/>
              </a:buClr>
              <a:buSzPct val="100000"/>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Obtendo o PFsense</a:t>
            </a:r>
            <a:endParaRPr/>
          </a:p>
        </p:txBody>
      </p:sp>
      <p:sp>
        <p:nvSpPr>
          <p:cNvPr id="104" name="Google Shape;104;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Para obter a versão mais recente do sistema PFSense basta acessar o site oficial ( </a:t>
            </a:r>
            <a:r>
              <a:rPr lang="pt-BR" u="sng">
                <a:solidFill>
                  <a:schemeClr val="hlink"/>
                </a:solidFill>
                <a:hlinkClick r:id="rId3"/>
              </a:rPr>
              <a:t>https://www.pfsense.org/download/</a:t>
            </a:r>
            <a:r>
              <a:rPr lang="pt-BR"/>
              <a:t> ) e poderá realizar o download da versão que desejar</a:t>
            </a:r>
            <a:endParaRPr/>
          </a:p>
        </p:txBody>
      </p:sp>
      <p:pic>
        <p:nvPicPr>
          <p:cNvPr id="105" name="Google Shape;105;p5"/>
          <p:cNvPicPr preferRelativeResize="0"/>
          <p:nvPr/>
        </p:nvPicPr>
        <p:blipFill rotWithShape="1">
          <a:blip r:embed="rId4">
            <a:alphaModFix/>
          </a:blip>
          <a:srcRect/>
          <a:stretch/>
        </p:blipFill>
        <p:spPr>
          <a:xfrm>
            <a:off x="1144776" y="3058306"/>
            <a:ext cx="5153025" cy="35528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Configurando o VirtualBox</a:t>
            </a:r>
            <a:endParaRPr/>
          </a:p>
        </p:txBody>
      </p:sp>
      <p:sp>
        <p:nvSpPr>
          <p:cNvPr id="111" name="Google Shape;1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Será feito sua instalação através de emulação utilizando o virtualbox, primeiramente devemos deixar sua configuração dessa maneira:</a:t>
            </a:r>
            <a:endParaRPr/>
          </a:p>
        </p:txBody>
      </p:sp>
      <p:pic>
        <p:nvPicPr>
          <p:cNvPr id="112" name="Google Shape;112;p6"/>
          <p:cNvPicPr preferRelativeResize="0"/>
          <p:nvPr/>
        </p:nvPicPr>
        <p:blipFill rotWithShape="1">
          <a:blip r:embed="rId3">
            <a:alphaModFix/>
          </a:blip>
          <a:srcRect/>
          <a:stretch/>
        </p:blipFill>
        <p:spPr>
          <a:xfrm>
            <a:off x="1523573" y="2666928"/>
            <a:ext cx="4286250" cy="3762375"/>
          </a:xfrm>
          <a:prstGeom prst="rect">
            <a:avLst/>
          </a:prstGeom>
          <a:noFill/>
          <a:ln>
            <a:noFill/>
          </a:ln>
        </p:spPr>
      </p:pic>
      <p:sp>
        <p:nvSpPr>
          <p:cNvPr id="113" name="Google Shape;113;p6"/>
          <p:cNvSpPr txBox="1"/>
          <p:nvPr/>
        </p:nvSpPr>
        <p:spPr>
          <a:xfrm>
            <a:off x="5991367" y="3193576"/>
            <a:ext cx="2770495"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800" b="0" i="0" u="none" strike="noStrike" cap="none">
                <a:solidFill>
                  <a:schemeClr val="dk1"/>
                </a:solidFill>
                <a:latin typeface="Calibri"/>
                <a:ea typeface="Calibri"/>
                <a:cs typeface="Calibri"/>
                <a:sym typeface="Calibri"/>
              </a:rPr>
              <a:t>Podemos deixar ele com cerca de 1Gb de memoria Ram e 16Gb de HD.</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Configurando o VirtualBox</a:t>
            </a:r>
            <a:endParaRPr/>
          </a:p>
        </p:txBody>
      </p:sp>
      <p:sp>
        <p:nvSpPr>
          <p:cNvPr id="119" name="Google Shape;119;p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Antes de realizar sua instalação iremos configurar 2 placas de redes, sendo a primeira em modo bridge ou Nat, para conexão direta com a rede e a segunda para a intranet</a:t>
            </a:r>
            <a:endParaRPr/>
          </a:p>
        </p:txBody>
      </p:sp>
      <p:pic>
        <p:nvPicPr>
          <p:cNvPr id="120" name="Google Shape;120;p7"/>
          <p:cNvPicPr preferRelativeResize="0"/>
          <p:nvPr/>
        </p:nvPicPr>
        <p:blipFill rotWithShape="1">
          <a:blip r:embed="rId3">
            <a:alphaModFix/>
          </a:blip>
          <a:srcRect/>
          <a:stretch/>
        </p:blipFill>
        <p:spPr>
          <a:xfrm>
            <a:off x="1086276" y="3039269"/>
            <a:ext cx="5734050" cy="1924050"/>
          </a:xfrm>
          <a:prstGeom prst="rect">
            <a:avLst/>
          </a:prstGeom>
          <a:noFill/>
          <a:ln>
            <a:noFill/>
          </a:ln>
        </p:spPr>
      </p:pic>
      <p:pic>
        <p:nvPicPr>
          <p:cNvPr id="121" name="Google Shape;121;p7"/>
          <p:cNvPicPr preferRelativeResize="0"/>
          <p:nvPr/>
        </p:nvPicPr>
        <p:blipFill rotWithShape="1">
          <a:blip r:embed="rId4">
            <a:alphaModFix/>
          </a:blip>
          <a:srcRect/>
          <a:stretch/>
        </p:blipFill>
        <p:spPr>
          <a:xfrm>
            <a:off x="2882379" y="4545343"/>
            <a:ext cx="5772150" cy="13430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Instalação</a:t>
            </a:r>
            <a:endParaRPr/>
          </a:p>
        </p:txBody>
      </p:sp>
      <p:sp>
        <p:nvSpPr>
          <p:cNvPr id="127" name="Google Shape;127;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Inicialmente, está é a primeira tela mostrando a versão que está sendo instalada</a:t>
            </a:r>
            <a:endParaRPr/>
          </a:p>
        </p:txBody>
      </p:sp>
      <p:pic>
        <p:nvPicPr>
          <p:cNvPr id="128" name="Google Shape;128;p8"/>
          <p:cNvPicPr preferRelativeResize="0"/>
          <p:nvPr/>
        </p:nvPicPr>
        <p:blipFill rotWithShape="1">
          <a:blip r:embed="rId3">
            <a:alphaModFix/>
          </a:blip>
          <a:srcRect/>
          <a:stretch/>
        </p:blipFill>
        <p:spPr>
          <a:xfrm>
            <a:off x="838200" y="2715904"/>
            <a:ext cx="6214370" cy="346105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Instalação</a:t>
            </a:r>
            <a:endParaRPr/>
          </a:p>
        </p:txBody>
      </p:sp>
      <p:sp>
        <p:nvSpPr>
          <p:cNvPr id="134" name="Google Shape;134;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Selecione instalação para iniciarmos</a:t>
            </a:r>
            <a:endParaRPr/>
          </a:p>
        </p:txBody>
      </p:sp>
      <p:pic>
        <p:nvPicPr>
          <p:cNvPr id="135" name="Google Shape;135;p9"/>
          <p:cNvPicPr preferRelativeResize="0"/>
          <p:nvPr/>
        </p:nvPicPr>
        <p:blipFill rotWithShape="1">
          <a:blip r:embed="rId3">
            <a:alphaModFix/>
          </a:blip>
          <a:srcRect/>
          <a:stretch/>
        </p:blipFill>
        <p:spPr>
          <a:xfrm>
            <a:off x="838200" y="2594212"/>
            <a:ext cx="6553200" cy="2133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Instalação</a:t>
            </a:r>
            <a:endParaRPr/>
          </a:p>
        </p:txBody>
      </p:sp>
      <p:sp>
        <p:nvSpPr>
          <p:cNvPr id="141" name="Google Shape;141;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Selecione o estilo de teclado que utilizará</a:t>
            </a:r>
            <a:endParaRPr/>
          </a:p>
        </p:txBody>
      </p:sp>
      <p:pic>
        <p:nvPicPr>
          <p:cNvPr id="142" name="Google Shape;142;p10"/>
          <p:cNvPicPr preferRelativeResize="0"/>
          <p:nvPr/>
        </p:nvPicPr>
        <p:blipFill rotWithShape="1">
          <a:blip r:embed="rId3">
            <a:alphaModFix/>
          </a:blip>
          <a:srcRect/>
          <a:stretch/>
        </p:blipFill>
        <p:spPr>
          <a:xfrm>
            <a:off x="838200" y="2382044"/>
            <a:ext cx="5762625" cy="3238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Instalação</a:t>
            </a:r>
            <a:endParaRPr/>
          </a:p>
        </p:txBody>
      </p:sp>
      <p:sp>
        <p:nvSpPr>
          <p:cNvPr id="148" name="Google Shape;148;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SelecIone a opção Auto UFS UEPI BIOS para seguirmos este modo de instalação, já detectando o método de boot e o dispositivo em que está sendo instalado</a:t>
            </a:r>
            <a:endParaRPr/>
          </a:p>
        </p:txBody>
      </p:sp>
      <p:pic>
        <p:nvPicPr>
          <p:cNvPr id="149" name="Google Shape;149;p11"/>
          <p:cNvPicPr preferRelativeResize="0"/>
          <p:nvPr/>
        </p:nvPicPr>
        <p:blipFill rotWithShape="1">
          <a:blip r:embed="rId3">
            <a:alphaModFix/>
          </a:blip>
          <a:srcRect/>
          <a:stretch/>
        </p:blipFill>
        <p:spPr>
          <a:xfrm>
            <a:off x="838200" y="3218170"/>
            <a:ext cx="6000750" cy="2305050"/>
          </a:xfrm>
          <a:prstGeom prst="rect">
            <a:avLst/>
          </a:prstGeom>
          <a:noFill/>
          <a:ln>
            <a:noFill/>
          </a:ln>
        </p:spPr>
      </p:pic>
      <p:pic>
        <p:nvPicPr>
          <p:cNvPr id="150" name="Google Shape;150;p11"/>
          <p:cNvPicPr preferRelativeResize="0"/>
          <p:nvPr/>
        </p:nvPicPr>
        <p:blipFill>
          <a:blip r:embed="rId4">
            <a:alphaModFix/>
          </a:blip>
          <a:stretch>
            <a:fillRect/>
          </a:stretch>
        </p:blipFill>
        <p:spPr>
          <a:xfrm>
            <a:off x="508713" y="3048000"/>
            <a:ext cx="6848475" cy="3810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Instalação</a:t>
            </a:r>
            <a:endParaRPr/>
          </a:p>
        </p:txBody>
      </p:sp>
      <p:sp>
        <p:nvSpPr>
          <p:cNvPr id="156" name="Google Shape;156;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Nessas duas telas, podemos negar as configurações manuais e reinicia-lo</a:t>
            </a:r>
            <a:endParaRPr/>
          </a:p>
          <a:p>
            <a:pPr marL="228600" lvl="0" indent="-228600" algn="l" rtl="0">
              <a:lnSpc>
                <a:spcPct val="90000"/>
              </a:lnSpc>
              <a:spcBef>
                <a:spcPts val="1000"/>
              </a:spcBef>
              <a:spcAft>
                <a:spcPts val="0"/>
              </a:spcAft>
              <a:buClr>
                <a:schemeClr val="dk1"/>
              </a:buClr>
              <a:buSzPts val="2800"/>
              <a:buChar char="•"/>
            </a:pPr>
            <a:r>
              <a:rPr lang="pt-BR" b="1"/>
              <a:t>IMPORTANTE: LEMBRE DE RETIRAR A ISO ANTES DE REINICIAR! </a:t>
            </a:r>
            <a:endParaRPr b="1"/>
          </a:p>
        </p:txBody>
      </p:sp>
      <p:pic>
        <p:nvPicPr>
          <p:cNvPr id="157" name="Google Shape;157;p12"/>
          <p:cNvPicPr preferRelativeResize="0"/>
          <p:nvPr/>
        </p:nvPicPr>
        <p:blipFill rotWithShape="1">
          <a:blip r:embed="rId3">
            <a:alphaModFix/>
          </a:blip>
          <a:srcRect/>
          <a:stretch/>
        </p:blipFill>
        <p:spPr>
          <a:xfrm>
            <a:off x="1056990" y="3381801"/>
            <a:ext cx="3800475" cy="1790700"/>
          </a:xfrm>
          <a:prstGeom prst="rect">
            <a:avLst/>
          </a:prstGeom>
          <a:noFill/>
          <a:ln>
            <a:noFill/>
          </a:ln>
        </p:spPr>
      </p:pic>
      <p:pic>
        <p:nvPicPr>
          <p:cNvPr id="158" name="Google Shape;158;p12"/>
          <p:cNvPicPr preferRelativeResize="0"/>
          <p:nvPr/>
        </p:nvPicPr>
        <p:blipFill rotWithShape="1">
          <a:blip r:embed="rId4">
            <a:alphaModFix/>
          </a:blip>
          <a:srcRect/>
          <a:stretch/>
        </p:blipFill>
        <p:spPr>
          <a:xfrm>
            <a:off x="4857465" y="3381801"/>
            <a:ext cx="4073411" cy="217162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Instalação</a:t>
            </a:r>
            <a:endParaRPr/>
          </a:p>
        </p:txBody>
      </p:sp>
      <p:sp>
        <p:nvSpPr>
          <p:cNvPr id="164" name="Google Shape;164;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Está pronto para ser usado e configurado</a:t>
            </a:r>
            <a:endParaRPr/>
          </a:p>
        </p:txBody>
      </p:sp>
      <p:pic>
        <p:nvPicPr>
          <p:cNvPr id="165" name="Google Shape;165;p13" descr="O que é pfSense o Firewall Open Source - HackerSec"/>
          <p:cNvPicPr preferRelativeResize="0"/>
          <p:nvPr/>
        </p:nvPicPr>
        <p:blipFill rotWithShape="1">
          <a:blip r:embed="rId3">
            <a:alphaModFix/>
          </a:blip>
          <a:srcRect/>
          <a:stretch/>
        </p:blipFill>
        <p:spPr>
          <a:xfrm>
            <a:off x="1001736" y="2416175"/>
            <a:ext cx="6915150" cy="38957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Configuração via web</a:t>
            </a:r>
            <a:endParaRPr/>
          </a:p>
        </p:txBody>
      </p:sp>
      <p:sp>
        <p:nvSpPr>
          <p:cNvPr id="171" name="Google Shape;17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Basta deixar um computador, com qualquer sistema operacional, conectado a rede interna e conexão via DNS e DHCP automático que ele irá buscar as configurações do pfsense.</a:t>
            </a:r>
            <a:endParaRPr/>
          </a:p>
          <a:p>
            <a:pPr marL="228600" lvl="0" indent="-228600" algn="l" rtl="0">
              <a:lnSpc>
                <a:spcPct val="90000"/>
              </a:lnSpc>
              <a:spcBef>
                <a:spcPts val="1000"/>
              </a:spcBef>
              <a:spcAft>
                <a:spcPts val="0"/>
              </a:spcAft>
              <a:buClr>
                <a:schemeClr val="dk1"/>
              </a:buClr>
              <a:buSzPts val="2800"/>
              <a:buChar char="•"/>
            </a:pPr>
            <a:r>
              <a:rPr lang="pt-BR"/>
              <a:t>Caso necessário basta colocar como IP fixo na mesma rede do seu servidor.</a:t>
            </a:r>
            <a:endParaRPr/>
          </a:p>
          <a:p>
            <a:pPr marL="228600" lvl="0" indent="-228600" algn="l" rtl="0">
              <a:lnSpc>
                <a:spcPct val="90000"/>
              </a:lnSpc>
              <a:spcBef>
                <a:spcPts val="1000"/>
              </a:spcBef>
              <a:spcAft>
                <a:spcPts val="0"/>
              </a:spcAft>
              <a:buClr>
                <a:schemeClr val="dk1"/>
              </a:buClr>
              <a:buSzPts val="2800"/>
              <a:buChar char="•"/>
            </a:pPr>
            <a:r>
              <a:rPr lang="pt-BR"/>
              <a:t>Basta verificar seu IP para total confirmação</a:t>
            </a:r>
            <a:endParaRPr/>
          </a:p>
        </p:txBody>
      </p:sp>
      <p:pic>
        <p:nvPicPr>
          <p:cNvPr id="172" name="Google Shape;172;p14"/>
          <p:cNvPicPr preferRelativeResize="0"/>
          <p:nvPr/>
        </p:nvPicPr>
        <p:blipFill rotWithShape="1">
          <a:blip r:embed="rId3">
            <a:alphaModFix/>
          </a:blip>
          <a:srcRect/>
          <a:stretch/>
        </p:blipFill>
        <p:spPr>
          <a:xfrm>
            <a:off x="1060403" y="4616450"/>
            <a:ext cx="7898344" cy="200271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Realizando login</a:t>
            </a:r>
            <a:endParaRPr/>
          </a:p>
        </p:txBody>
      </p:sp>
      <p:sp>
        <p:nvSpPr>
          <p:cNvPr id="178" name="Google Shape;178;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dirty="0"/>
              <a:t>Basta acessar com um usuário em rede no seguinte link: </a:t>
            </a:r>
            <a:r>
              <a:rPr lang="pt-BR" u="sng" dirty="0">
                <a:solidFill>
                  <a:schemeClr val="hlink"/>
                </a:solidFill>
                <a:hlinkClick r:id="rId3"/>
              </a:rPr>
              <a:t>https://192.168.1.1</a:t>
            </a:r>
            <a:r>
              <a:rPr lang="pt-BR" dirty="0"/>
              <a:t> ou </a:t>
            </a:r>
            <a:r>
              <a:rPr lang="pt-BR" dirty="0" err="1"/>
              <a:t>ip</a:t>
            </a:r>
            <a:r>
              <a:rPr lang="pt-BR" dirty="0"/>
              <a:t> que configurou em qualquer navegador de sua escolha e realizar o primeiro login, tendo como padrão:</a:t>
            </a:r>
            <a:endParaRPr dirty="0"/>
          </a:p>
          <a:p>
            <a:pPr marL="228600" lvl="0" indent="-228600" algn="l" rtl="0">
              <a:lnSpc>
                <a:spcPct val="90000"/>
              </a:lnSpc>
              <a:spcBef>
                <a:spcPts val="1000"/>
              </a:spcBef>
              <a:spcAft>
                <a:spcPts val="0"/>
              </a:spcAft>
              <a:buClr>
                <a:schemeClr val="dk1"/>
              </a:buClr>
              <a:buSzPts val="2800"/>
              <a:buChar char="•"/>
            </a:pPr>
            <a:r>
              <a:rPr lang="pt-BR" dirty="0" err="1"/>
              <a:t>Username</a:t>
            </a:r>
            <a:r>
              <a:rPr lang="pt-BR" dirty="0"/>
              <a:t>: admin</a:t>
            </a:r>
            <a:br>
              <a:rPr lang="pt-BR" dirty="0"/>
            </a:br>
            <a:r>
              <a:rPr lang="pt-BR" dirty="0"/>
              <a:t>Senha: </a:t>
            </a:r>
            <a:r>
              <a:rPr lang="pt-BR" dirty="0" err="1"/>
              <a:t>pfsense</a:t>
            </a:r>
            <a:endParaRPr dirty="0"/>
          </a:p>
        </p:txBody>
      </p:sp>
      <p:sp>
        <p:nvSpPr>
          <p:cNvPr id="179" name="Google Shape;179;p15" descr="Pfsense login"/>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0" name="Google Shape;180;p15" descr="Pfsense login"/>
          <p:cNvSpPr/>
          <p:nvPr/>
        </p:nvSpPr>
        <p:spPr>
          <a:xfrm>
            <a:off x="307975" y="7937"/>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81" name="Google Shape;181;p15"/>
          <p:cNvPicPr preferRelativeResize="0"/>
          <p:nvPr/>
        </p:nvPicPr>
        <p:blipFill rotWithShape="1">
          <a:blip r:embed="rId4">
            <a:alphaModFix/>
          </a:blip>
          <a:srcRect/>
          <a:stretch/>
        </p:blipFill>
        <p:spPr>
          <a:xfrm>
            <a:off x="3872623" y="3255630"/>
            <a:ext cx="5189372" cy="292133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Assistente de Configuração</a:t>
            </a:r>
            <a:endParaRPr/>
          </a:p>
        </p:txBody>
      </p:sp>
      <p:sp>
        <p:nvSpPr>
          <p:cNvPr id="187" name="Google Shape;187;p16"/>
          <p:cNvSpPr txBox="1">
            <a:spLocks noGrp="1"/>
          </p:cNvSpPr>
          <p:nvPr>
            <p:ph type="body" idx="1"/>
          </p:nvPr>
        </p:nvSpPr>
        <p:spPr>
          <a:xfrm>
            <a:off x="838200" y="1811977"/>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No seu primeiro acesso, o assistente de configuração Pfsense será exibido.</a:t>
            </a:r>
            <a:endParaRPr/>
          </a:p>
          <a:p>
            <a:pPr marL="228600" lvl="0" indent="-228600" algn="l" rtl="0">
              <a:lnSpc>
                <a:spcPct val="90000"/>
              </a:lnSpc>
              <a:spcBef>
                <a:spcPts val="1000"/>
              </a:spcBef>
              <a:spcAft>
                <a:spcPts val="0"/>
              </a:spcAft>
              <a:buClr>
                <a:schemeClr val="dk1"/>
              </a:buClr>
              <a:buSzPts val="2800"/>
              <a:buChar char="•"/>
            </a:pPr>
            <a:r>
              <a:rPr lang="pt-BR"/>
              <a:t>Clique no botão Avançar e execute a configuração do nome do host e do DNS.</a:t>
            </a:r>
            <a:endParaRPr/>
          </a:p>
        </p:txBody>
      </p:sp>
      <p:sp>
        <p:nvSpPr>
          <p:cNvPr id="188" name="Google Shape;188;p16" descr="pfsense setup wizard"/>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89" name="Google Shape;189;p16"/>
          <p:cNvPicPr preferRelativeResize="0"/>
          <p:nvPr/>
        </p:nvPicPr>
        <p:blipFill rotWithShape="1">
          <a:blip r:embed="rId3">
            <a:alphaModFix/>
          </a:blip>
          <a:srcRect/>
          <a:stretch/>
        </p:blipFill>
        <p:spPr>
          <a:xfrm>
            <a:off x="1145986" y="3751072"/>
            <a:ext cx="7334250" cy="22764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Assistente de Configuração</a:t>
            </a:r>
            <a:endParaRPr/>
          </a:p>
        </p:txBody>
      </p:sp>
      <p:sp>
        <p:nvSpPr>
          <p:cNvPr id="195" name="Google Shape;195;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Na primeira etapa configuraremos o nome e o domínio, assim como o DNS ( pode deixar padrão ou utilizar o do google)</a:t>
            </a:r>
            <a:endParaRPr/>
          </a:p>
        </p:txBody>
      </p:sp>
      <p:pic>
        <p:nvPicPr>
          <p:cNvPr id="196" name="Google Shape;196;p17"/>
          <p:cNvPicPr preferRelativeResize="0"/>
          <p:nvPr/>
        </p:nvPicPr>
        <p:blipFill rotWithShape="1">
          <a:blip r:embed="rId3">
            <a:alphaModFix/>
          </a:blip>
          <a:srcRect/>
          <a:stretch/>
        </p:blipFill>
        <p:spPr>
          <a:xfrm>
            <a:off x="1160059" y="2654670"/>
            <a:ext cx="6436768" cy="410779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Assistente de Configuração</a:t>
            </a:r>
            <a:endParaRPr/>
          </a:p>
        </p:txBody>
      </p:sp>
      <p:sp>
        <p:nvSpPr>
          <p:cNvPr id="202" name="Google Shape;202;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Nessa etapa é configurada a faixa de horário que o servidor irá trabalhar, neste caso esta como América/São Paulo</a:t>
            </a:r>
            <a:endParaRPr/>
          </a:p>
        </p:txBody>
      </p:sp>
      <p:pic>
        <p:nvPicPr>
          <p:cNvPr id="203" name="Google Shape;203;p18"/>
          <p:cNvPicPr preferRelativeResize="0"/>
          <p:nvPr/>
        </p:nvPicPr>
        <p:blipFill rotWithShape="1">
          <a:blip r:embed="rId3">
            <a:alphaModFix/>
          </a:blip>
          <a:srcRect/>
          <a:stretch/>
        </p:blipFill>
        <p:spPr>
          <a:xfrm>
            <a:off x="1101985" y="2884866"/>
            <a:ext cx="7611252" cy="292908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Assistente de Configuração</a:t>
            </a:r>
            <a:endParaRPr/>
          </a:p>
        </p:txBody>
      </p:sp>
      <p:sp>
        <p:nvSpPr>
          <p:cNvPr id="209" name="Google Shape;209;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Aqui é configurado o padrão que a interface WAN irá trabalhar.</a:t>
            </a:r>
            <a:endParaRPr/>
          </a:p>
          <a:p>
            <a:pPr marL="228600" lvl="0" indent="-228600" algn="l" rtl="0">
              <a:lnSpc>
                <a:spcPct val="90000"/>
              </a:lnSpc>
              <a:spcBef>
                <a:spcPts val="1000"/>
              </a:spcBef>
              <a:spcAft>
                <a:spcPts val="0"/>
              </a:spcAft>
              <a:buClr>
                <a:schemeClr val="dk1"/>
              </a:buClr>
              <a:buSzPts val="2800"/>
              <a:buChar char="•"/>
            </a:pPr>
            <a:r>
              <a:rPr lang="pt-BR"/>
              <a:t>Iremos deixar como padrão DHCP por hora, com os recursos padões já pré-configurados</a:t>
            </a:r>
            <a:endParaRPr/>
          </a:p>
          <a:p>
            <a:pPr marL="228600" lvl="0" indent="-228600" algn="l" rtl="0">
              <a:lnSpc>
                <a:spcPct val="90000"/>
              </a:lnSpc>
              <a:spcBef>
                <a:spcPts val="1000"/>
              </a:spcBef>
              <a:spcAft>
                <a:spcPts val="0"/>
              </a:spcAft>
              <a:buClr>
                <a:schemeClr val="dk1"/>
              </a:buClr>
              <a:buSzPts val="2800"/>
              <a:buChar char="•"/>
            </a:pPr>
            <a:r>
              <a:rPr lang="pt-BR"/>
              <a:t>Apenas desabilitando o Bloqueio de Rede Privada</a:t>
            </a:r>
            <a:endParaRPr/>
          </a:p>
        </p:txBody>
      </p:sp>
      <p:pic>
        <p:nvPicPr>
          <p:cNvPr id="210" name="Google Shape;210;p19"/>
          <p:cNvPicPr preferRelativeResize="0"/>
          <p:nvPr/>
        </p:nvPicPr>
        <p:blipFill rotWithShape="1">
          <a:blip r:embed="rId3">
            <a:alphaModFix/>
          </a:blip>
          <a:srcRect/>
          <a:stretch/>
        </p:blipFill>
        <p:spPr>
          <a:xfrm>
            <a:off x="1181314" y="3957850"/>
            <a:ext cx="5314448" cy="2900149"/>
          </a:xfrm>
          <a:prstGeom prst="rect">
            <a:avLst/>
          </a:prstGeom>
          <a:noFill/>
          <a:ln>
            <a:noFill/>
          </a:ln>
        </p:spPr>
      </p:pic>
      <p:pic>
        <p:nvPicPr>
          <p:cNvPr id="211" name="Google Shape;211;p19"/>
          <p:cNvPicPr preferRelativeResize="0"/>
          <p:nvPr/>
        </p:nvPicPr>
        <p:blipFill rotWithShape="1">
          <a:blip r:embed="rId4">
            <a:alphaModFix/>
          </a:blip>
          <a:srcRect/>
          <a:stretch/>
        </p:blipFill>
        <p:spPr>
          <a:xfrm>
            <a:off x="4567450" y="5010150"/>
            <a:ext cx="6638925" cy="16478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Assistente de Configuração</a:t>
            </a:r>
            <a:endParaRPr/>
          </a:p>
        </p:txBody>
      </p:sp>
      <p:sp>
        <p:nvSpPr>
          <p:cNvPr id="217" name="Google Shape;217;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Nessa etapa é possível mudar a rede local para atender os requisitos que deseja</a:t>
            </a:r>
            <a:endParaRPr/>
          </a:p>
        </p:txBody>
      </p:sp>
      <p:pic>
        <p:nvPicPr>
          <p:cNvPr id="218" name="Google Shape;218;p20"/>
          <p:cNvPicPr preferRelativeResize="0"/>
          <p:nvPr/>
        </p:nvPicPr>
        <p:blipFill rotWithShape="1">
          <a:blip r:embed="rId3">
            <a:alphaModFix/>
          </a:blip>
          <a:srcRect/>
          <a:stretch/>
        </p:blipFill>
        <p:spPr>
          <a:xfrm>
            <a:off x="1065804" y="2691606"/>
            <a:ext cx="7682584" cy="302680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Assistente de Configuração</a:t>
            </a:r>
            <a:endParaRPr/>
          </a:p>
        </p:txBody>
      </p:sp>
      <p:sp>
        <p:nvSpPr>
          <p:cNvPr id="224" name="Google Shape;224;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Aqui é altamente recomendável escolher uma nova senha</a:t>
            </a:r>
            <a:endParaRPr/>
          </a:p>
        </p:txBody>
      </p:sp>
      <p:pic>
        <p:nvPicPr>
          <p:cNvPr id="225" name="Google Shape;225;p21"/>
          <p:cNvPicPr preferRelativeResize="0"/>
          <p:nvPr/>
        </p:nvPicPr>
        <p:blipFill rotWithShape="1">
          <a:blip r:embed="rId3">
            <a:alphaModFix/>
          </a:blip>
          <a:srcRect/>
          <a:stretch/>
        </p:blipFill>
        <p:spPr>
          <a:xfrm>
            <a:off x="838200" y="2285928"/>
            <a:ext cx="7122936" cy="285927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Assistente de Configuração</a:t>
            </a:r>
            <a:endParaRPr/>
          </a:p>
        </p:txBody>
      </p:sp>
      <p:sp>
        <p:nvSpPr>
          <p:cNvPr id="231" name="Google Shape;231;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O sistema recarregará a configuração do Pfsense e a etapa de configuração inicial estará concluida</a:t>
            </a:r>
            <a:br>
              <a:rPr lang="pt-BR"/>
            </a:br>
            <a:endParaRPr/>
          </a:p>
        </p:txBody>
      </p:sp>
      <p:pic>
        <p:nvPicPr>
          <p:cNvPr id="232" name="Google Shape;232;p22"/>
          <p:cNvPicPr preferRelativeResize="0"/>
          <p:nvPr/>
        </p:nvPicPr>
        <p:blipFill rotWithShape="1">
          <a:blip r:embed="rId3">
            <a:alphaModFix/>
          </a:blip>
          <a:srcRect/>
          <a:stretch/>
        </p:blipFill>
        <p:spPr>
          <a:xfrm>
            <a:off x="939137" y="2821958"/>
            <a:ext cx="7558208" cy="325129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Configurações extras</a:t>
            </a:r>
            <a:endParaRPr/>
          </a:p>
        </p:txBody>
      </p:sp>
      <p:sp>
        <p:nvSpPr>
          <p:cNvPr id="238" name="Google Shape;238;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Vá em System &gt; Advanced e iremos habilitar o Shell para que possamos acessa-los via SSH</a:t>
            </a:r>
            <a:endParaRPr/>
          </a:p>
          <a:p>
            <a:pPr marL="228600" lvl="0" indent="-228600" algn="l" rtl="0">
              <a:lnSpc>
                <a:spcPct val="90000"/>
              </a:lnSpc>
              <a:spcBef>
                <a:spcPts val="1000"/>
              </a:spcBef>
              <a:spcAft>
                <a:spcPts val="0"/>
              </a:spcAft>
              <a:buClr>
                <a:schemeClr val="dk1"/>
              </a:buClr>
              <a:buSzPts val="2800"/>
              <a:buChar char="•"/>
            </a:pPr>
            <a:r>
              <a:rPr lang="pt-BR"/>
              <a:t>Também será habilitado a senha de proteção para o console menu</a:t>
            </a:r>
            <a:endParaRPr/>
          </a:p>
        </p:txBody>
      </p:sp>
      <p:pic>
        <p:nvPicPr>
          <p:cNvPr id="239" name="Google Shape;239;p23"/>
          <p:cNvPicPr preferRelativeResize="0"/>
          <p:nvPr/>
        </p:nvPicPr>
        <p:blipFill rotWithShape="1">
          <a:blip r:embed="rId3">
            <a:alphaModFix/>
          </a:blip>
          <a:srcRect/>
          <a:stretch/>
        </p:blipFill>
        <p:spPr>
          <a:xfrm>
            <a:off x="838200" y="3152775"/>
            <a:ext cx="6553200" cy="3705225"/>
          </a:xfrm>
          <a:prstGeom prst="rect">
            <a:avLst/>
          </a:prstGeom>
          <a:noFill/>
          <a:ln>
            <a:noFill/>
          </a:ln>
        </p:spPr>
      </p:pic>
      <p:pic>
        <p:nvPicPr>
          <p:cNvPr id="240" name="Google Shape;240;p23"/>
          <p:cNvPicPr preferRelativeResize="0"/>
          <p:nvPr/>
        </p:nvPicPr>
        <p:blipFill rotWithShape="1">
          <a:blip r:embed="rId4">
            <a:alphaModFix/>
          </a:blip>
          <a:srcRect/>
          <a:stretch/>
        </p:blipFill>
        <p:spPr>
          <a:xfrm>
            <a:off x="5286375" y="5488782"/>
            <a:ext cx="4210050" cy="10287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Configurações extras</a:t>
            </a:r>
            <a:endParaRPr/>
          </a:p>
        </p:txBody>
      </p:sp>
      <p:sp>
        <p:nvSpPr>
          <p:cNvPr id="246" name="Google Shape;246;p2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Agora vá para Services &gt; DHCP 6 Server Relay e iremos desabilitar o DHCP6 pois não será utilizado</a:t>
            </a:r>
            <a:endParaRPr/>
          </a:p>
        </p:txBody>
      </p:sp>
      <p:pic>
        <p:nvPicPr>
          <p:cNvPr id="247" name="Google Shape;247;p24"/>
          <p:cNvPicPr preferRelativeResize="0"/>
          <p:nvPr/>
        </p:nvPicPr>
        <p:blipFill rotWithShape="1">
          <a:blip r:embed="rId3">
            <a:alphaModFix/>
          </a:blip>
          <a:srcRect/>
          <a:stretch/>
        </p:blipFill>
        <p:spPr>
          <a:xfrm>
            <a:off x="838200" y="2778101"/>
            <a:ext cx="6743700" cy="32670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Configurações extras</a:t>
            </a:r>
            <a:endParaRPr/>
          </a:p>
        </p:txBody>
      </p:sp>
      <p:sp>
        <p:nvSpPr>
          <p:cNvPr id="253" name="Google Shape;253;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Agora em Interfaces &gt; LAN e também iremos desabilitar a opção de IPV6.</a:t>
            </a:r>
            <a:endParaRPr/>
          </a:p>
          <a:p>
            <a:pPr marL="228600" lvl="0" indent="-228600" algn="l" rtl="0">
              <a:lnSpc>
                <a:spcPct val="90000"/>
              </a:lnSpc>
              <a:spcBef>
                <a:spcPts val="1000"/>
              </a:spcBef>
              <a:spcAft>
                <a:spcPts val="0"/>
              </a:spcAft>
              <a:buClr>
                <a:schemeClr val="dk1"/>
              </a:buClr>
              <a:buSzPts val="2800"/>
              <a:buChar char="•"/>
            </a:pPr>
            <a:r>
              <a:rPr lang="pt-BR"/>
              <a:t>Realize a mesma ação para a WAN.</a:t>
            </a:r>
            <a:endParaRPr/>
          </a:p>
        </p:txBody>
      </p:sp>
      <p:pic>
        <p:nvPicPr>
          <p:cNvPr id="254" name="Google Shape;254;p25"/>
          <p:cNvPicPr preferRelativeResize="0"/>
          <p:nvPr/>
        </p:nvPicPr>
        <p:blipFill rotWithShape="1">
          <a:blip r:embed="rId3">
            <a:alphaModFix/>
          </a:blip>
          <a:srcRect/>
          <a:stretch/>
        </p:blipFill>
        <p:spPr>
          <a:xfrm>
            <a:off x="1093741" y="3234519"/>
            <a:ext cx="5744378" cy="294244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Configurações extras</a:t>
            </a:r>
            <a:endParaRPr dirty="0"/>
          </a:p>
        </p:txBody>
      </p:sp>
      <p:sp>
        <p:nvSpPr>
          <p:cNvPr id="260" name="Google Shape;260;p2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Ainda em WAN é importante colocar um ip fixo para o ipv4.</a:t>
            </a:r>
            <a:endParaRPr/>
          </a:p>
          <a:p>
            <a:pPr marL="228600" lvl="0" indent="-228600" algn="l" rtl="0">
              <a:lnSpc>
                <a:spcPct val="90000"/>
              </a:lnSpc>
              <a:spcBef>
                <a:spcPts val="1000"/>
              </a:spcBef>
              <a:spcAft>
                <a:spcPts val="0"/>
              </a:spcAft>
              <a:buClr>
                <a:schemeClr val="dk1"/>
              </a:buClr>
              <a:buSzPts val="2800"/>
              <a:buChar char="•"/>
            </a:pPr>
            <a:r>
              <a:rPr lang="pt-BR"/>
              <a:t>Podemos deixar o IP que foi pego incialmente via DHCP</a:t>
            </a:r>
            <a:endParaRPr/>
          </a:p>
        </p:txBody>
      </p:sp>
      <p:pic>
        <p:nvPicPr>
          <p:cNvPr id="261" name="Google Shape;261;p26"/>
          <p:cNvPicPr preferRelativeResize="0"/>
          <p:nvPr/>
        </p:nvPicPr>
        <p:blipFill rotWithShape="1">
          <a:blip r:embed="rId3">
            <a:alphaModFix/>
          </a:blip>
          <a:srcRect/>
          <a:stretch/>
        </p:blipFill>
        <p:spPr>
          <a:xfrm>
            <a:off x="8735988" y="2704757"/>
            <a:ext cx="2171700" cy="4114800"/>
          </a:xfrm>
          <a:prstGeom prst="rect">
            <a:avLst/>
          </a:prstGeom>
          <a:noFill/>
          <a:ln>
            <a:noFill/>
          </a:ln>
        </p:spPr>
      </p:pic>
      <p:pic>
        <p:nvPicPr>
          <p:cNvPr id="262" name="Google Shape;262;p26"/>
          <p:cNvPicPr preferRelativeResize="0"/>
          <p:nvPr/>
        </p:nvPicPr>
        <p:blipFill rotWithShape="1">
          <a:blip r:embed="rId4">
            <a:alphaModFix/>
          </a:blip>
          <a:srcRect/>
          <a:stretch/>
        </p:blipFill>
        <p:spPr>
          <a:xfrm>
            <a:off x="1937982" y="5048068"/>
            <a:ext cx="5375086" cy="1584563"/>
          </a:xfrm>
          <a:prstGeom prst="rect">
            <a:avLst/>
          </a:prstGeom>
          <a:noFill/>
          <a:ln>
            <a:noFill/>
          </a:ln>
        </p:spPr>
      </p:pic>
      <p:pic>
        <p:nvPicPr>
          <p:cNvPr id="263" name="Google Shape;263;p26"/>
          <p:cNvPicPr preferRelativeResize="0"/>
          <p:nvPr/>
        </p:nvPicPr>
        <p:blipFill rotWithShape="1">
          <a:blip r:embed="rId5">
            <a:alphaModFix/>
          </a:blip>
          <a:srcRect/>
          <a:stretch/>
        </p:blipFill>
        <p:spPr>
          <a:xfrm>
            <a:off x="1039362" y="2872941"/>
            <a:ext cx="5552507" cy="2175127"/>
          </a:xfrm>
          <a:prstGeom prst="rect">
            <a:avLst/>
          </a:prstGeom>
          <a:noFill/>
          <a:ln>
            <a:noFill/>
          </a:ln>
        </p:spPr>
      </p:pic>
      <p:sp>
        <p:nvSpPr>
          <p:cNvPr id="264" name="Google Shape;264;p26"/>
          <p:cNvSpPr/>
          <p:nvPr/>
        </p:nvSpPr>
        <p:spPr>
          <a:xfrm>
            <a:off x="1937982" y="6284657"/>
            <a:ext cx="1392072" cy="293616"/>
          </a:xfrm>
          <a:prstGeom prst="rect">
            <a:avLst/>
          </a:prstGeom>
          <a:noFill/>
          <a:ln w="381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2"/>
              </a:solidFill>
              <a:latin typeface="Calibri"/>
              <a:ea typeface="Calibri"/>
              <a:cs typeface="Calibri"/>
              <a:sym typeface="Calibri"/>
            </a:endParaRPr>
          </a:p>
        </p:txBody>
      </p:sp>
      <p:cxnSp>
        <p:nvCxnSpPr>
          <p:cNvPr id="265" name="Google Shape;265;p26"/>
          <p:cNvCxnSpPr>
            <a:stCxn id="264" idx="3"/>
          </p:cNvCxnSpPr>
          <p:nvPr/>
        </p:nvCxnSpPr>
        <p:spPr>
          <a:xfrm rot="10800000" flipH="1">
            <a:off x="3330054" y="2979965"/>
            <a:ext cx="5262300" cy="3451500"/>
          </a:xfrm>
          <a:prstGeom prst="straightConnector1">
            <a:avLst/>
          </a:prstGeom>
          <a:noFill/>
          <a:ln w="38100" cap="flat" cmpd="sng">
            <a:solidFill>
              <a:srgbClr val="C00000"/>
            </a:solidFill>
            <a:prstDash val="solid"/>
            <a:miter lim="800000"/>
            <a:headEnd type="none" w="sm" len="sm"/>
            <a:tailEnd type="triangle" w="med" len="med"/>
          </a:ln>
        </p:spPr>
      </p:cxnSp>
      <p:sp>
        <p:nvSpPr>
          <p:cNvPr id="266" name="Google Shape;266;p26"/>
          <p:cNvSpPr/>
          <p:nvPr/>
        </p:nvSpPr>
        <p:spPr>
          <a:xfrm>
            <a:off x="8735988" y="2704757"/>
            <a:ext cx="2171700" cy="4025916"/>
          </a:xfrm>
          <a:prstGeom prst="rect">
            <a:avLst/>
          </a:prstGeom>
          <a:noFill/>
          <a:ln w="381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2"/>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Configurações extras</a:t>
            </a:r>
            <a:endParaRPr/>
          </a:p>
        </p:txBody>
      </p:sp>
      <p:sp>
        <p:nvSpPr>
          <p:cNvPr id="272" name="Google Shape;272;p2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Iremos também configurar o Bakcup em Services &gt; Auto Config Backup.</a:t>
            </a:r>
            <a:endParaRPr/>
          </a:p>
          <a:p>
            <a:pPr marL="228600" lvl="0" indent="-228600" algn="l" rtl="0">
              <a:lnSpc>
                <a:spcPct val="90000"/>
              </a:lnSpc>
              <a:spcBef>
                <a:spcPts val="1000"/>
              </a:spcBef>
              <a:spcAft>
                <a:spcPts val="0"/>
              </a:spcAft>
              <a:buClr>
                <a:schemeClr val="dk1"/>
              </a:buClr>
              <a:buSzPts val="2800"/>
              <a:buChar char="•"/>
            </a:pPr>
            <a:r>
              <a:rPr lang="pt-BR"/>
              <a:t>Basta ativar e escolher o método que deseja ser realizado, e customizar a sua vontade</a:t>
            </a:r>
            <a:endParaRPr/>
          </a:p>
          <a:p>
            <a:pPr marL="228600" lvl="0" indent="-228600" algn="l" rtl="0">
              <a:lnSpc>
                <a:spcPct val="90000"/>
              </a:lnSpc>
              <a:spcBef>
                <a:spcPts val="1000"/>
              </a:spcBef>
              <a:spcAft>
                <a:spcPts val="0"/>
              </a:spcAft>
              <a:buClr>
                <a:schemeClr val="dk1"/>
              </a:buClr>
              <a:buSzPts val="2800"/>
              <a:buChar char="•"/>
            </a:pPr>
            <a:r>
              <a:rPr lang="pt-BR"/>
              <a:t>Lembrando que * significa todos</a:t>
            </a:r>
            <a:endParaRPr/>
          </a:p>
        </p:txBody>
      </p:sp>
      <p:pic>
        <p:nvPicPr>
          <p:cNvPr id="273" name="Google Shape;273;p27"/>
          <p:cNvPicPr preferRelativeResize="0"/>
          <p:nvPr/>
        </p:nvPicPr>
        <p:blipFill rotWithShape="1">
          <a:blip r:embed="rId3">
            <a:alphaModFix/>
          </a:blip>
          <a:srcRect/>
          <a:stretch/>
        </p:blipFill>
        <p:spPr>
          <a:xfrm>
            <a:off x="954064" y="4001294"/>
            <a:ext cx="6762750" cy="24955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Shape 277"/>
        <p:cNvGrpSpPr/>
        <p:nvPr/>
      </p:nvGrpSpPr>
      <p:grpSpPr>
        <a:xfrm>
          <a:off x="0" y="0"/>
          <a:ext cx="0" cy="0"/>
          <a:chOff x="0" y="0"/>
          <a:chExt cx="0" cy="0"/>
        </a:xfrm>
      </p:grpSpPr>
      <p:sp>
        <p:nvSpPr>
          <p:cNvPr id="278" name="Google Shape;278;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Gerar Certificado</a:t>
            </a:r>
            <a:endParaRPr/>
          </a:p>
        </p:txBody>
      </p:sp>
      <p:sp>
        <p:nvSpPr>
          <p:cNvPr id="279" name="Google Shape;279;p2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Ao instalar o PFSense ele já vem com um certificado padrão, porem iremos atualizar e criar um novo.</a:t>
            </a:r>
            <a:endParaRPr/>
          </a:p>
          <a:p>
            <a:pPr marL="228600" lvl="0" indent="-228600" algn="l" rtl="0">
              <a:lnSpc>
                <a:spcPct val="90000"/>
              </a:lnSpc>
              <a:spcBef>
                <a:spcPts val="1000"/>
              </a:spcBef>
              <a:spcAft>
                <a:spcPts val="0"/>
              </a:spcAft>
              <a:buClr>
                <a:schemeClr val="dk1"/>
              </a:buClr>
              <a:buSzPts val="2800"/>
              <a:buChar char="•"/>
            </a:pPr>
            <a:r>
              <a:rPr lang="pt-BR"/>
              <a:t>Vá em System &gt; Cerificate Manager e clicar em ADD na aba de CA.</a:t>
            </a:r>
            <a:endParaRPr/>
          </a:p>
          <a:p>
            <a:pPr marL="228600" lvl="0" indent="-228600" algn="l" rtl="0">
              <a:lnSpc>
                <a:spcPct val="90000"/>
              </a:lnSpc>
              <a:spcBef>
                <a:spcPts val="1000"/>
              </a:spcBef>
              <a:spcAft>
                <a:spcPts val="0"/>
              </a:spcAft>
              <a:buClr>
                <a:schemeClr val="dk1"/>
              </a:buClr>
              <a:buSzPts val="2800"/>
              <a:buChar char="•"/>
            </a:pPr>
            <a:r>
              <a:rPr lang="pt-BR"/>
              <a:t>Escolhendo criação de uma nova CA de rede interna e modificando apenas os dados de regionalidade.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Shape 283"/>
        <p:cNvGrpSpPr/>
        <p:nvPr/>
      </p:nvGrpSpPr>
      <p:grpSpPr>
        <a:xfrm>
          <a:off x="0" y="0"/>
          <a:ext cx="0" cy="0"/>
          <a:chOff x="0" y="0"/>
          <a:chExt cx="0" cy="0"/>
        </a:xfrm>
      </p:grpSpPr>
      <p:sp>
        <p:nvSpPr>
          <p:cNvPr id="284" name="Google Shape;284;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285" name="Google Shape;285;p3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Agora iremos criar o certificado, vá na aba de certificados e clique em ADD.</a:t>
            </a:r>
            <a:endParaRPr/>
          </a:p>
          <a:p>
            <a:pPr marL="228600" lvl="0" indent="-228600" algn="l" rtl="0">
              <a:lnSpc>
                <a:spcPct val="90000"/>
              </a:lnSpc>
              <a:spcBef>
                <a:spcPts val="1000"/>
              </a:spcBef>
              <a:spcAft>
                <a:spcPts val="0"/>
              </a:spcAft>
              <a:buClr>
                <a:schemeClr val="dk1"/>
              </a:buClr>
              <a:buSzPts val="2800"/>
              <a:buChar char="•"/>
            </a:pPr>
            <a:r>
              <a:rPr lang="pt-BR"/>
              <a:t>Aqui escolheremos um nome e o tipo de certificado, o qual será de criação interna, e selecionar a CA que foi criada anteriormente.</a:t>
            </a:r>
            <a:endParaRPr/>
          </a:p>
          <a:p>
            <a:pPr marL="228600" lvl="0" indent="-228600" algn="l" rtl="0">
              <a:lnSpc>
                <a:spcPct val="90000"/>
              </a:lnSpc>
              <a:spcBef>
                <a:spcPts val="1000"/>
              </a:spcBef>
              <a:spcAft>
                <a:spcPts val="0"/>
              </a:spcAft>
              <a:buClr>
                <a:schemeClr val="dk1"/>
              </a:buClr>
              <a:buSzPts val="2800"/>
              <a:buChar char="•"/>
            </a:pPr>
            <a:r>
              <a:rPr lang="pt-BR"/>
              <a:t>Lembre-se de alterar o Tipo do certificado para Servidor em “</a:t>
            </a:r>
            <a:r>
              <a:rPr lang="pt-BR" b="1"/>
              <a:t>Certificate Type</a:t>
            </a:r>
            <a:r>
              <a:rPr lang="pt-BR"/>
              <a:t>”e colocaremos via IP com o ip do próprio PFsense</a:t>
            </a:r>
            <a:endParaRPr/>
          </a:p>
        </p:txBody>
      </p:sp>
      <p:pic>
        <p:nvPicPr>
          <p:cNvPr id="286" name="Google Shape;286;p30"/>
          <p:cNvPicPr preferRelativeResize="0"/>
          <p:nvPr/>
        </p:nvPicPr>
        <p:blipFill rotWithShape="1">
          <a:blip r:embed="rId3">
            <a:alphaModFix/>
          </a:blip>
          <a:srcRect/>
          <a:stretch/>
        </p:blipFill>
        <p:spPr>
          <a:xfrm>
            <a:off x="1292556" y="4534978"/>
            <a:ext cx="2405987" cy="232302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Shape 290"/>
        <p:cNvGrpSpPr/>
        <p:nvPr/>
      </p:nvGrpSpPr>
      <p:grpSpPr>
        <a:xfrm>
          <a:off x="0" y="0"/>
          <a:ext cx="0" cy="0"/>
          <a:chOff x="0" y="0"/>
          <a:chExt cx="0" cy="0"/>
        </a:xfrm>
      </p:grpSpPr>
      <p:sp>
        <p:nvSpPr>
          <p:cNvPr id="291" name="Google Shape;291;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Gerar certificados</a:t>
            </a:r>
            <a:endParaRPr/>
          </a:p>
        </p:txBody>
      </p:sp>
      <p:sp>
        <p:nvSpPr>
          <p:cNvPr id="292" name="Google Shape;292;p2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Para aplicar vá em “System &gt; Advanced” em SSL Certificates escolha o certificado que acabou de ser criado e estará aplicado.</a:t>
            </a:r>
            <a:endParaRPr/>
          </a:p>
          <a:p>
            <a:pPr marL="228600" lvl="0" indent="-228600" algn="l" rtl="0">
              <a:lnSpc>
                <a:spcPct val="90000"/>
              </a:lnSpc>
              <a:spcBef>
                <a:spcPts val="1000"/>
              </a:spcBef>
              <a:spcAft>
                <a:spcPts val="0"/>
              </a:spcAft>
              <a:buClr>
                <a:schemeClr val="dk1"/>
              </a:buClr>
              <a:buSzPts val="2800"/>
              <a:buChar char="•"/>
            </a:pPr>
            <a:r>
              <a:rPr lang="pt-BR"/>
              <a:t>Agora o novo certificado SSL estará ativado.</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Shape 296"/>
        <p:cNvGrpSpPr/>
        <p:nvPr/>
      </p:nvGrpSpPr>
      <p:grpSpPr>
        <a:xfrm>
          <a:off x="0" y="0"/>
          <a:ext cx="0" cy="0"/>
          <a:chOff x="0" y="0"/>
          <a:chExt cx="0" cy="0"/>
        </a:xfrm>
      </p:grpSpPr>
      <p:sp>
        <p:nvSpPr>
          <p:cNvPr id="297" name="Google Shape;297;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298" name="Google Shape;298;p3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Caso ainda mostre que o site não é seguro é necessário importar para o browser seu novo certificado, para isso volte aonde foi criado sua CA e exporte-a.</a:t>
            </a:r>
            <a:endParaRPr/>
          </a:p>
        </p:txBody>
      </p:sp>
      <p:pic>
        <p:nvPicPr>
          <p:cNvPr id="299" name="Google Shape;299;p31"/>
          <p:cNvPicPr preferRelativeResize="0"/>
          <p:nvPr/>
        </p:nvPicPr>
        <p:blipFill rotWithShape="1">
          <a:blip r:embed="rId3">
            <a:alphaModFix/>
          </a:blip>
          <a:srcRect/>
          <a:stretch/>
        </p:blipFill>
        <p:spPr>
          <a:xfrm>
            <a:off x="1095944" y="3043735"/>
            <a:ext cx="6724650" cy="15621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Ver maquinas na rede do pfsense</a:t>
            </a:r>
            <a:endParaRPr/>
          </a:p>
        </p:txBody>
      </p:sp>
      <p:sp>
        <p:nvSpPr>
          <p:cNvPr id="305" name="Google Shape;305;p33"/>
          <p:cNvSpPr txBox="1">
            <a:spLocks noGrp="1"/>
          </p:cNvSpPr>
          <p:nvPr>
            <p:ph type="body" idx="1"/>
          </p:nvPr>
        </p:nvSpPr>
        <p:spPr>
          <a:xfrm>
            <a:off x="838200" y="1839273"/>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Em "Status -&gt; DHCP Leases -&gt; Show all configured leases" é mostrado todos os leases, inclusive os offline.</a:t>
            </a:r>
            <a:endParaRPr/>
          </a:p>
        </p:txBody>
      </p:sp>
      <p:pic>
        <p:nvPicPr>
          <p:cNvPr id="306" name="Google Shape;306;p33"/>
          <p:cNvPicPr preferRelativeResize="0"/>
          <p:nvPr/>
        </p:nvPicPr>
        <p:blipFill rotWithShape="1">
          <a:blip r:embed="rId3">
            <a:alphaModFix/>
          </a:blip>
          <a:srcRect/>
          <a:stretch/>
        </p:blipFill>
        <p:spPr>
          <a:xfrm>
            <a:off x="1091821" y="2683066"/>
            <a:ext cx="4158018" cy="3927474"/>
          </a:xfrm>
          <a:prstGeom prst="rect">
            <a:avLst/>
          </a:prstGeom>
          <a:noFill/>
          <a:ln>
            <a:noFill/>
          </a:ln>
        </p:spPr>
      </p:pic>
    </p:spTree>
  </p:cSld>
  <p:clrMapOvr>
    <a:masterClrMapping/>
  </p:clrMapOvr>
</p:sld>
</file>

<file path=ppt/theme/theme1.xml><?xml version="1.0" encoding="utf-8"?>
<a:theme xmlns:a="http://schemas.openxmlformats.org/drawingml/2006/main" name="senactema">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1271</Words>
  <Application>Microsoft Office PowerPoint</Application>
  <PresentationFormat>Widescreen</PresentationFormat>
  <Paragraphs>86</Paragraphs>
  <Slides>31</Slides>
  <Notes>31</Notes>
  <HiddenSlides>4</HiddenSlides>
  <MMClips>0</MMClips>
  <ScaleCrop>false</ScaleCrop>
  <HeadingPairs>
    <vt:vector size="6" baseType="variant">
      <vt:variant>
        <vt:lpstr>Fontes usadas</vt:lpstr>
      </vt:variant>
      <vt:variant>
        <vt:i4>2</vt:i4>
      </vt:variant>
      <vt:variant>
        <vt:lpstr>Tema</vt:lpstr>
      </vt:variant>
      <vt:variant>
        <vt:i4>1</vt:i4>
      </vt:variant>
      <vt:variant>
        <vt:lpstr>Títulos de slides</vt:lpstr>
      </vt:variant>
      <vt:variant>
        <vt:i4>31</vt:i4>
      </vt:variant>
    </vt:vector>
  </HeadingPairs>
  <TitlesOfParts>
    <vt:vector size="34" baseType="lpstr">
      <vt:lpstr>Arial</vt:lpstr>
      <vt:lpstr>Calibri</vt:lpstr>
      <vt:lpstr>senactema</vt:lpstr>
      <vt:lpstr>Apresentação do PowerPoint</vt:lpstr>
      <vt:lpstr>Sobre</vt:lpstr>
      <vt:lpstr>Principais Recursos</vt:lpstr>
      <vt:lpstr>Obtendo o PFsense</vt:lpstr>
      <vt:lpstr>Configurando o VirtualBox</vt:lpstr>
      <vt:lpstr>Configurando o VirtualBox</vt:lpstr>
      <vt:lpstr>Instalação</vt:lpstr>
      <vt:lpstr>Instalação</vt:lpstr>
      <vt:lpstr>Instalação</vt:lpstr>
      <vt:lpstr>Instalação</vt:lpstr>
      <vt:lpstr>Instalação</vt:lpstr>
      <vt:lpstr>Instalação</vt:lpstr>
      <vt:lpstr>Configuração via web</vt:lpstr>
      <vt:lpstr>Realizando login</vt:lpstr>
      <vt:lpstr>Assistente de Configuração</vt:lpstr>
      <vt:lpstr>Assistente de Configuração</vt:lpstr>
      <vt:lpstr>Assistente de Configuração</vt:lpstr>
      <vt:lpstr>Assistente de Configuração</vt:lpstr>
      <vt:lpstr>Assistente de Configuração</vt:lpstr>
      <vt:lpstr>Assistente de Configuração</vt:lpstr>
      <vt:lpstr>Assistente de Configuração</vt:lpstr>
      <vt:lpstr>Configurações extras</vt:lpstr>
      <vt:lpstr>Configurações extras</vt:lpstr>
      <vt:lpstr>Configurações extras</vt:lpstr>
      <vt:lpstr>Configurações extras</vt:lpstr>
      <vt:lpstr>Configurações extras</vt:lpstr>
      <vt:lpstr>Gerar Certificado</vt:lpstr>
      <vt:lpstr>Apresentação do PowerPoint</vt:lpstr>
      <vt:lpstr>Gerar certificados</vt:lpstr>
      <vt:lpstr>Apresentação do PowerPoint</vt:lpstr>
      <vt:lpstr>Ver maquinas na rede do pfsense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Hugo X</dc:creator>
  <cp:lastModifiedBy>HUGO SANTOS MAGALHAES</cp:lastModifiedBy>
  <cp:revision>1</cp:revision>
  <dcterms:created xsi:type="dcterms:W3CDTF">2022-04-19T18:44:03Z</dcterms:created>
  <dcterms:modified xsi:type="dcterms:W3CDTF">2024-06-11T22:12:56Z</dcterms:modified>
</cp:coreProperties>
</file>