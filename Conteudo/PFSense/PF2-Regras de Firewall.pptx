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jJtoa6xpygo5GCMPfITM0F2vlyN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71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HERME CORREA RIBEIRO" userId="23663555-d637-4628-be3b-e07839b6b052" providerId="ADAL" clId="{7D2B80D4-290F-46D5-B43A-1E201CB671A8}"/>
    <pc:docChg chg="modSld">
      <pc:chgData name="GUILHERME CORREA RIBEIRO" userId="23663555-d637-4628-be3b-e07839b6b052" providerId="ADAL" clId="{7D2B80D4-290F-46D5-B43A-1E201CB671A8}" dt="2024-07-14T01:31:54.554" v="0" actId="14100"/>
      <pc:docMkLst>
        <pc:docMk/>
      </pc:docMkLst>
      <pc:sldChg chg="modSp mod">
        <pc:chgData name="GUILHERME CORREA RIBEIRO" userId="23663555-d637-4628-be3b-e07839b6b052" providerId="ADAL" clId="{7D2B80D4-290F-46D5-B43A-1E201CB671A8}" dt="2024-07-14T01:31:54.554" v="0" actId="14100"/>
        <pc:sldMkLst>
          <pc:docMk/>
          <pc:sldMk cId="0" sldId="265"/>
        </pc:sldMkLst>
        <pc:spChg chg="mod">
          <ac:chgData name="GUILHERME CORREA RIBEIRO" userId="23663555-d637-4628-be3b-e07839b6b052" providerId="ADAL" clId="{7D2B80D4-290F-46D5-B43A-1E201CB671A8}" dt="2024-07-14T01:31:54.554" v="0" actId="14100"/>
          <ac:spMkLst>
            <pc:docMk/>
            <pc:sldMk cId="0" sldId="265"/>
            <ac:spMk id="1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7"/>
          <p:cNvSpPr>
            <a:spLocks noGrp="1"/>
          </p:cNvSpPr>
          <p:nvPr>
            <p:ph type="pic" idx="2"/>
          </p:nvPr>
        </p:nvSpPr>
        <p:spPr>
          <a:xfrm>
            <a:off x="5183188" y="987425"/>
            <a:ext cx="6172200" cy="4873625"/>
          </a:xfrm>
          <a:prstGeom prst="rect">
            <a:avLst/>
          </a:prstGeom>
          <a:noFill/>
          <a:ln>
            <a:noFill/>
          </a:ln>
        </p:spPr>
      </p:sp>
      <p:sp>
        <p:nvSpPr>
          <p:cNvPr id="64" name="Google Shape;64;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descr="Firewalls | Information Technology Services | Nebraska"/>
          <p:cNvPicPr preferRelativeResize="0"/>
          <p:nvPr/>
        </p:nvPicPr>
        <p:blipFill rotWithShape="1">
          <a:blip r:embed="rId3">
            <a:alphaModFix/>
          </a:blip>
          <a:srcRect/>
          <a:stretch/>
        </p:blipFill>
        <p:spPr>
          <a:xfrm>
            <a:off x="2229564" y="3859176"/>
            <a:ext cx="2797247" cy="2797247"/>
          </a:xfrm>
          <a:prstGeom prst="rect">
            <a:avLst/>
          </a:prstGeom>
          <a:noFill/>
          <a:ln>
            <a:noFill/>
          </a:ln>
        </p:spPr>
      </p:pic>
      <p:sp>
        <p:nvSpPr>
          <p:cNvPr id="85" name="Google Shape;85;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pt-BR"/>
              <a:t>Regras de Firewall</a:t>
            </a:r>
            <a:endParaRPr/>
          </a:p>
        </p:txBody>
      </p:sp>
      <p:sp>
        <p:nvSpPr>
          <p:cNvPr id="86" name="Google Shape;86;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pt-BR"/>
              <a:t>PFSense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Sobre	</a:t>
            </a:r>
            <a:endParaRPr/>
          </a:p>
        </p:txBody>
      </p:sp>
      <p:sp>
        <p:nvSpPr>
          <p:cNvPr id="92" name="Google Shape;92;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 criação de regras no firewall é usada para bloqueio de portas por completo ou restrições aplicadas as mesmas, podendo ser traduzida como bloqueio a determinados links, ou bloqueio das portas utilizadas para o torrent.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pt-BR"/>
              <a:t>Aliases	</a:t>
            </a:r>
            <a:endParaRPr/>
          </a:p>
        </p:txBody>
      </p:sp>
      <p:sp>
        <p:nvSpPr>
          <p:cNvPr id="98" name="Google Shape;98;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pic>
        <p:nvPicPr>
          <p:cNvPr id="99" name="Google Shape;99;p3" descr="Address, alias, contact, email icon - Download on Iconfinder"/>
          <p:cNvPicPr preferRelativeResize="0"/>
          <p:nvPr/>
        </p:nvPicPr>
        <p:blipFill rotWithShape="1">
          <a:blip r:embed="rId3">
            <a:alphaModFix/>
          </a:blip>
          <a:srcRect/>
          <a:stretch/>
        </p:blipFill>
        <p:spPr>
          <a:xfrm>
            <a:off x="3944072" y="588523"/>
            <a:ext cx="3533100" cy="35331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Aliases	</a:t>
            </a:r>
            <a:endParaRPr/>
          </a:p>
        </p:txBody>
      </p:sp>
      <p:sp>
        <p:nvSpPr>
          <p:cNvPr id="105" name="Google Shape;105;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 tradução de Aliases é Apelido e nessa parte é possível definir os Ips e URLs que irão ser permitidos ou bloqueados nas criações das regras</a:t>
            </a:r>
            <a:endParaRPr/>
          </a:p>
          <a:p>
            <a:pPr marL="228600" lvl="0" indent="-228600" algn="l" rtl="0">
              <a:lnSpc>
                <a:spcPct val="90000"/>
              </a:lnSpc>
              <a:spcBef>
                <a:spcPts val="1000"/>
              </a:spcBef>
              <a:spcAft>
                <a:spcPts val="0"/>
              </a:spcAft>
              <a:buClr>
                <a:schemeClr val="dk1"/>
              </a:buClr>
              <a:buSzPts val="2800"/>
              <a:buChar char="•"/>
            </a:pPr>
            <a:r>
              <a:rPr lang="pt-BR"/>
              <a:t>Para acessar basta ir em Firewall &gt; Aliases</a:t>
            </a:r>
            <a:endParaRPr/>
          </a:p>
        </p:txBody>
      </p:sp>
      <p:pic>
        <p:nvPicPr>
          <p:cNvPr id="106" name="Google Shape;106;p4"/>
          <p:cNvPicPr preferRelativeResize="0"/>
          <p:nvPr/>
        </p:nvPicPr>
        <p:blipFill rotWithShape="1">
          <a:blip r:embed="rId3">
            <a:alphaModFix/>
          </a:blip>
          <a:srcRect/>
          <a:stretch/>
        </p:blipFill>
        <p:spPr>
          <a:xfrm>
            <a:off x="838200" y="3576638"/>
            <a:ext cx="6743700" cy="2600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Aliases</a:t>
            </a:r>
            <a:endParaRPr/>
          </a:p>
        </p:txBody>
      </p:sp>
      <p:sp>
        <p:nvSpPr>
          <p:cNvPr id="112" name="Google Shape;11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Aqui podemos definir os apelidos por Ips, Portas ou URLs.</a:t>
            </a:r>
            <a:endParaRPr/>
          </a:p>
          <a:p>
            <a:pPr marL="228600" lvl="0" indent="-228600" algn="l" rtl="0">
              <a:lnSpc>
                <a:spcPct val="90000"/>
              </a:lnSpc>
              <a:spcBef>
                <a:spcPts val="1000"/>
              </a:spcBef>
              <a:spcAft>
                <a:spcPts val="0"/>
              </a:spcAft>
              <a:buClr>
                <a:schemeClr val="dk1"/>
              </a:buClr>
              <a:buSzPts val="2800"/>
              <a:buChar char="•"/>
            </a:pPr>
            <a:r>
              <a:rPr lang="pt-BR"/>
              <a:t>No exemplo iremos bloquear o site facebook.</a:t>
            </a:r>
            <a:endParaRPr/>
          </a:p>
          <a:p>
            <a:pPr marL="228600" lvl="0" indent="-228600" algn="l" rtl="0">
              <a:lnSpc>
                <a:spcPct val="90000"/>
              </a:lnSpc>
              <a:spcBef>
                <a:spcPts val="1000"/>
              </a:spcBef>
              <a:spcAft>
                <a:spcPts val="0"/>
              </a:spcAft>
              <a:buClr>
                <a:schemeClr val="dk1"/>
              </a:buClr>
              <a:buSzPts val="2800"/>
              <a:buChar char="•"/>
            </a:pPr>
            <a:r>
              <a:rPr lang="pt-BR"/>
              <a:t>Basta selecionar por IP e clivar em ADD</a:t>
            </a:r>
            <a:endParaRPr/>
          </a:p>
        </p:txBody>
      </p:sp>
      <p:pic>
        <p:nvPicPr>
          <p:cNvPr id="113" name="Google Shape;113;p5"/>
          <p:cNvPicPr preferRelativeResize="0"/>
          <p:nvPr/>
        </p:nvPicPr>
        <p:blipFill rotWithShape="1">
          <a:blip r:embed="rId3">
            <a:alphaModFix/>
          </a:blip>
          <a:srcRect/>
          <a:stretch/>
        </p:blipFill>
        <p:spPr>
          <a:xfrm>
            <a:off x="838200" y="3627119"/>
            <a:ext cx="10358737" cy="254984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Aliases</a:t>
            </a:r>
            <a:endParaRPr/>
          </a:p>
        </p:txBody>
      </p:sp>
      <p:sp>
        <p:nvSpPr>
          <p:cNvPr id="119" name="Google Shape;1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pt-BR"/>
              <a:t>Os tipos de bloqueios são:</a:t>
            </a:r>
            <a:endParaRPr/>
          </a:p>
          <a:p>
            <a:pPr marL="228600" lvl="0" indent="-228600" algn="l" rtl="0">
              <a:lnSpc>
                <a:spcPct val="90000"/>
              </a:lnSpc>
              <a:spcBef>
                <a:spcPts val="1000"/>
              </a:spcBef>
              <a:spcAft>
                <a:spcPts val="0"/>
              </a:spcAft>
              <a:buClr>
                <a:schemeClr val="dk1"/>
              </a:buClr>
              <a:buSzPts val="2800"/>
              <a:buChar char="•"/>
            </a:pPr>
            <a:r>
              <a:rPr lang="pt-BR"/>
              <a:t>Hosts: Refencia ao DHCP do site. </a:t>
            </a:r>
            <a:endParaRPr/>
          </a:p>
          <a:p>
            <a:pPr marL="228600" lvl="0" indent="-228600" algn="l" rtl="0">
              <a:lnSpc>
                <a:spcPct val="90000"/>
              </a:lnSpc>
              <a:spcBef>
                <a:spcPts val="1000"/>
              </a:spcBef>
              <a:spcAft>
                <a:spcPts val="0"/>
              </a:spcAft>
              <a:buClr>
                <a:schemeClr val="dk1"/>
              </a:buClr>
              <a:buSzPts val="2800"/>
              <a:buChar char="•"/>
            </a:pPr>
            <a:r>
              <a:rPr lang="pt-BR"/>
              <a:t>Network:  Insere toda uma rede. </a:t>
            </a:r>
            <a:endParaRPr/>
          </a:p>
          <a:p>
            <a:pPr marL="228600" lvl="0" indent="-228600" algn="l" rtl="0">
              <a:lnSpc>
                <a:spcPct val="90000"/>
              </a:lnSpc>
              <a:spcBef>
                <a:spcPts val="1000"/>
              </a:spcBef>
              <a:spcAft>
                <a:spcPts val="0"/>
              </a:spcAft>
              <a:buClr>
                <a:schemeClr val="dk1"/>
              </a:buClr>
              <a:buSzPts val="2800"/>
              <a:buChar char="•"/>
            </a:pPr>
            <a:r>
              <a:rPr lang="pt-BR"/>
              <a:t>Ports: Insere uma ou mais portas para transmissão da rede. </a:t>
            </a:r>
            <a:endParaRPr/>
          </a:p>
          <a:p>
            <a:pPr marL="228600" lvl="0" indent="-228600" algn="l" rtl="0">
              <a:lnSpc>
                <a:spcPct val="90000"/>
              </a:lnSpc>
              <a:spcBef>
                <a:spcPts val="1000"/>
              </a:spcBef>
              <a:spcAft>
                <a:spcPts val="0"/>
              </a:spcAft>
              <a:buClr>
                <a:schemeClr val="dk1"/>
              </a:buClr>
              <a:buSzPts val="2800"/>
              <a:buChar char="•"/>
            </a:pPr>
            <a:r>
              <a:rPr lang="pt-BR"/>
              <a:t>URL (Ips e Port): O alias é criado a partir do conteúdo retornado pela URL especificada, mas é lido apenas uma vez. Uma vez adicionado, torna-se um alias de tipo de rede ou porta normal. </a:t>
            </a:r>
            <a:endParaRPr/>
          </a:p>
          <a:p>
            <a:pPr marL="228600" lvl="0" indent="-228600" algn="l" rtl="0">
              <a:lnSpc>
                <a:spcPct val="90000"/>
              </a:lnSpc>
              <a:spcBef>
                <a:spcPts val="1000"/>
              </a:spcBef>
              <a:spcAft>
                <a:spcPts val="0"/>
              </a:spcAft>
              <a:buClr>
                <a:schemeClr val="dk1"/>
              </a:buClr>
              <a:buSzPts val="2800"/>
              <a:buChar char="•"/>
            </a:pPr>
            <a:r>
              <a:rPr lang="pt-BR"/>
              <a:t>URL Tables (Ips e Port): O alias é criado a partir do conteúdo retornado pelo URL especificado, mas é atualizado pela busca da lista do URL periodicamente.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Aliases – bloqueio de sites</a:t>
            </a:r>
            <a:endParaRPr/>
          </a:p>
        </p:txBody>
      </p:sp>
      <p:sp>
        <p:nvSpPr>
          <p:cNvPr id="125" name="Google Shape;125;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Basta preencher os dados necessários como o nome que será atribuído, sua descrição e tipo (Será utilizado o tipo </a:t>
            </a:r>
            <a:r>
              <a:rPr lang="pt-BR" b="1"/>
              <a:t>HOST</a:t>
            </a:r>
            <a:r>
              <a:rPr lang="pt-BR"/>
              <a:t>)</a:t>
            </a:r>
            <a:endParaRPr/>
          </a:p>
          <a:p>
            <a:pPr marL="228600" lvl="0" indent="-228600" algn="l" rtl="0">
              <a:lnSpc>
                <a:spcPct val="90000"/>
              </a:lnSpc>
              <a:spcBef>
                <a:spcPts val="1000"/>
              </a:spcBef>
              <a:spcAft>
                <a:spcPts val="0"/>
              </a:spcAft>
              <a:buClr>
                <a:schemeClr val="dk1"/>
              </a:buClr>
              <a:buSzPts val="2800"/>
              <a:buChar char="•"/>
            </a:pPr>
            <a:r>
              <a:rPr lang="pt-BR"/>
              <a:t>Agora basta atribuir a este host o link do site a ser bloqueado.</a:t>
            </a:r>
            <a:endParaRPr/>
          </a:p>
          <a:p>
            <a:pPr marL="228600" lvl="0" indent="-228600" algn="l" rtl="0">
              <a:lnSpc>
                <a:spcPct val="90000"/>
              </a:lnSpc>
              <a:spcBef>
                <a:spcPts val="1000"/>
              </a:spcBef>
              <a:spcAft>
                <a:spcPts val="0"/>
              </a:spcAft>
              <a:buClr>
                <a:schemeClr val="dk1"/>
              </a:buClr>
              <a:buSzPts val="2800"/>
              <a:buChar char="•"/>
            </a:pPr>
            <a:r>
              <a:rPr lang="pt-BR"/>
              <a:t>Nesse caso será o site: www.facebook.com</a:t>
            </a:r>
            <a:endParaRPr/>
          </a:p>
        </p:txBody>
      </p:sp>
      <p:pic>
        <p:nvPicPr>
          <p:cNvPr id="126" name="Google Shape;126;p7"/>
          <p:cNvPicPr preferRelativeResize="0"/>
          <p:nvPr/>
        </p:nvPicPr>
        <p:blipFill rotWithShape="1">
          <a:blip r:embed="rId3">
            <a:alphaModFix/>
          </a:blip>
          <a:srcRect/>
          <a:stretch/>
        </p:blipFill>
        <p:spPr>
          <a:xfrm>
            <a:off x="838200" y="3883025"/>
            <a:ext cx="6648450" cy="2428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Aliases – bloqueio de portas</a:t>
            </a:r>
            <a:endParaRPr/>
          </a:p>
        </p:txBody>
      </p:sp>
      <p:sp>
        <p:nvSpPr>
          <p:cNvPr id="132" name="Google Shape;132;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Tambem iremos bloquear as portas padrões que se utilizam o torrent.</a:t>
            </a:r>
            <a:endParaRPr/>
          </a:p>
          <a:p>
            <a:pPr marL="228600" lvl="0" indent="-228600" algn="l" rtl="0">
              <a:lnSpc>
                <a:spcPct val="90000"/>
              </a:lnSpc>
              <a:spcBef>
                <a:spcPts val="1000"/>
              </a:spcBef>
              <a:spcAft>
                <a:spcPts val="0"/>
              </a:spcAft>
              <a:buClr>
                <a:schemeClr val="dk1"/>
              </a:buClr>
              <a:buSzPts val="2800"/>
              <a:buChar char="•"/>
            </a:pPr>
            <a:r>
              <a:rPr lang="pt-BR"/>
              <a:t>Basta agora selecionar a aba de Ports e clicar em ADD.</a:t>
            </a:r>
            <a:endParaRPr/>
          </a:p>
          <a:p>
            <a:pPr marL="228600" lvl="0" indent="-228600" algn="l" rtl="0">
              <a:lnSpc>
                <a:spcPct val="90000"/>
              </a:lnSpc>
              <a:spcBef>
                <a:spcPts val="1000"/>
              </a:spcBef>
              <a:spcAft>
                <a:spcPts val="0"/>
              </a:spcAft>
              <a:buClr>
                <a:schemeClr val="dk1"/>
              </a:buClr>
              <a:buSzPts val="2800"/>
              <a:buChar char="•"/>
            </a:pPr>
            <a:r>
              <a:rPr lang="pt-BR"/>
              <a:t>Adicionar o nome, descrição e qual porta será inserida</a:t>
            </a:r>
            <a:endParaRPr/>
          </a:p>
        </p:txBody>
      </p:sp>
      <p:pic>
        <p:nvPicPr>
          <p:cNvPr id="133" name="Google Shape;133;p8"/>
          <p:cNvPicPr preferRelativeResize="0"/>
          <p:nvPr/>
        </p:nvPicPr>
        <p:blipFill rotWithShape="1">
          <a:blip r:embed="rId3">
            <a:alphaModFix/>
          </a:blip>
          <a:srcRect/>
          <a:stretch/>
        </p:blipFill>
        <p:spPr>
          <a:xfrm>
            <a:off x="838200" y="3326072"/>
            <a:ext cx="5743575" cy="30058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pt-BR"/>
              <a:t>Regras</a:t>
            </a:r>
            <a:endParaRPr/>
          </a:p>
        </p:txBody>
      </p:sp>
      <p:sp>
        <p:nvSpPr>
          <p:cNvPr id="139" name="Google Shape;139;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pic>
        <p:nvPicPr>
          <p:cNvPr id="140" name="Google Shape;140;p9" descr="Regras - ícones de interface grátis"/>
          <p:cNvPicPr preferRelativeResize="0"/>
          <p:nvPr/>
        </p:nvPicPr>
        <p:blipFill rotWithShape="1">
          <a:blip r:embed="rId3">
            <a:alphaModFix/>
          </a:blip>
          <a:srcRect/>
          <a:stretch/>
        </p:blipFill>
        <p:spPr>
          <a:xfrm>
            <a:off x="3473829" y="270419"/>
            <a:ext cx="4319043" cy="43190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a:t>
            </a:r>
            <a:endParaRPr/>
          </a:p>
        </p:txBody>
      </p:sp>
      <p:sp>
        <p:nvSpPr>
          <p:cNvPr id="146" name="Google Shape;146;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Com os Aliases criados, podemos inserir as regras que bloquearão ou permitirão acessos aos que criamos anteriormente.</a:t>
            </a:r>
            <a:endParaRPr/>
          </a:p>
          <a:p>
            <a:pPr marL="228600" lvl="0" indent="-228600" algn="l" rtl="0">
              <a:lnSpc>
                <a:spcPct val="90000"/>
              </a:lnSpc>
              <a:spcBef>
                <a:spcPts val="1000"/>
              </a:spcBef>
              <a:spcAft>
                <a:spcPts val="0"/>
              </a:spcAft>
              <a:buClr>
                <a:schemeClr val="dk1"/>
              </a:buClr>
              <a:buSzPts val="2800"/>
              <a:buChar char="•"/>
            </a:pPr>
            <a:r>
              <a:rPr lang="pt-BR"/>
              <a:t>Para acessar, vá em Firewall &gt; Rules.</a:t>
            </a:r>
            <a:endParaRPr/>
          </a:p>
          <a:p>
            <a:pPr marL="228600" lvl="0" indent="-228600" algn="l" rtl="0">
              <a:lnSpc>
                <a:spcPct val="90000"/>
              </a:lnSpc>
              <a:spcBef>
                <a:spcPts val="1000"/>
              </a:spcBef>
              <a:spcAft>
                <a:spcPts val="0"/>
              </a:spcAft>
              <a:buClr>
                <a:schemeClr val="dk1"/>
              </a:buClr>
              <a:buSzPts val="2800"/>
              <a:buChar char="•"/>
            </a:pPr>
            <a:r>
              <a:rPr lang="pt-BR"/>
              <a:t>E iremos na aba de LAN, para configurarmos nossa rede local.</a:t>
            </a:r>
            <a:endParaRPr/>
          </a:p>
          <a:p>
            <a:pPr marL="228600" lvl="0" indent="-228600" algn="l" rtl="0">
              <a:lnSpc>
                <a:spcPct val="90000"/>
              </a:lnSpc>
              <a:spcBef>
                <a:spcPts val="1000"/>
              </a:spcBef>
              <a:spcAft>
                <a:spcPts val="0"/>
              </a:spcAft>
              <a:buClr>
                <a:schemeClr val="dk1"/>
              </a:buClr>
              <a:buSzPts val="2800"/>
              <a:buChar char="•"/>
            </a:pPr>
            <a:r>
              <a:rPr lang="pt-BR"/>
              <a:t>Já estão prontas 3 regras por padrão</a:t>
            </a:r>
            <a:endParaRPr/>
          </a:p>
        </p:txBody>
      </p:sp>
      <p:pic>
        <p:nvPicPr>
          <p:cNvPr id="147" name="Google Shape;147;p10"/>
          <p:cNvPicPr preferRelativeResize="0"/>
          <p:nvPr/>
        </p:nvPicPr>
        <p:blipFill rotWithShape="1">
          <a:blip r:embed="rId3">
            <a:alphaModFix/>
          </a:blip>
          <a:srcRect/>
          <a:stretch/>
        </p:blipFill>
        <p:spPr>
          <a:xfrm>
            <a:off x="838200" y="4366895"/>
            <a:ext cx="2781300" cy="2228850"/>
          </a:xfrm>
          <a:prstGeom prst="rect">
            <a:avLst/>
          </a:prstGeom>
          <a:noFill/>
          <a:ln>
            <a:noFill/>
          </a:ln>
        </p:spPr>
      </p:pic>
      <p:sp>
        <p:nvSpPr>
          <p:cNvPr id="148" name="Google Shape;148;p10"/>
          <p:cNvSpPr txBox="1"/>
          <p:nvPr/>
        </p:nvSpPr>
        <p:spPr>
          <a:xfrm>
            <a:off x="3740149" y="4816694"/>
            <a:ext cx="7723969"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0" i="0" u="none" strike="noStrike" cap="none" dirty="0">
                <a:solidFill>
                  <a:schemeClr val="dk1"/>
                </a:solidFill>
                <a:latin typeface="Calibri"/>
                <a:ea typeface="Calibri"/>
                <a:cs typeface="Calibri"/>
                <a:sym typeface="Calibri"/>
              </a:rPr>
              <a:t>-Permite que a rede interna acesse portas padrões;</a:t>
            </a:r>
            <a:endParaRPr dirty="0"/>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dirty="0">
                <a:solidFill>
                  <a:schemeClr val="dk1"/>
                </a:solidFill>
                <a:latin typeface="Calibri"/>
                <a:ea typeface="Calibri"/>
                <a:cs typeface="Calibri"/>
                <a:sym typeface="Calibri"/>
              </a:rPr>
              <a:t>-Permite que a rede interna acesse todas as portas via IPV4</a:t>
            </a:r>
            <a:endParaRPr dirty="0"/>
          </a:p>
          <a:p>
            <a:pPr marL="0" marR="0" lvl="0" indent="0" algn="l" rtl="0">
              <a:spcBef>
                <a:spcPts val="0"/>
              </a:spcBef>
              <a:spcAft>
                <a:spcPts val="0"/>
              </a:spcAft>
              <a:buNone/>
            </a:pPr>
            <a:r>
              <a:rPr lang="pt-BR" sz="2400" dirty="0">
                <a:solidFill>
                  <a:schemeClr val="dk1"/>
                </a:solidFill>
                <a:latin typeface="Calibri"/>
                <a:ea typeface="Calibri"/>
                <a:cs typeface="Calibri"/>
                <a:sym typeface="Calibri"/>
              </a:rPr>
              <a:t>-Permite que a rede interna acessa todas as portas via IPV6</a:t>
            </a:r>
            <a:endParaRPr sz="2400"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a:t>
            </a:r>
            <a:endParaRPr/>
          </a:p>
        </p:txBody>
      </p:sp>
      <p:sp>
        <p:nvSpPr>
          <p:cNvPr id="154" name="Google Shape;154;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As regras padrões podem ser customizadas ou deletadas caso queira criar regras menos abrangente, como criar uma regras especificas de liberação para cada porta, recomendando sempre estar abertas para uso da internet as seguintes portas:</a:t>
            </a:r>
            <a:endParaRPr/>
          </a:p>
          <a:p>
            <a:pPr marL="228600" lvl="0" indent="-228600" algn="l" rtl="0">
              <a:lnSpc>
                <a:spcPct val="90000"/>
              </a:lnSpc>
              <a:spcBef>
                <a:spcPts val="1000"/>
              </a:spcBef>
              <a:spcAft>
                <a:spcPts val="0"/>
              </a:spcAft>
              <a:buClr>
                <a:schemeClr val="dk1"/>
              </a:buClr>
              <a:buSzPts val="2800"/>
              <a:buChar char="•"/>
            </a:pPr>
            <a:r>
              <a:rPr lang="pt-BR"/>
              <a:t>53(DNS) – Protocolo UDP</a:t>
            </a:r>
            <a:endParaRPr/>
          </a:p>
          <a:p>
            <a:pPr marL="228600" lvl="0" indent="-228600" algn="l" rtl="0">
              <a:lnSpc>
                <a:spcPct val="90000"/>
              </a:lnSpc>
              <a:spcBef>
                <a:spcPts val="1000"/>
              </a:spcBef>
              <a:spcAft>
                <a:spcPts val="0"/>
              </a:spcAft>
              <a:buClr>
                <a:schemeClr val="dk1"/>
              </a:buClr>
              <a:buSzPts val="2800"/>
              <a:buChar char="•"/>
            </a:pPr>
            <a:r>
              <a:rPr lang="pt-BR"/>
              <a:t>80(HTTP) – Protocolo TCP</a:t>
            </a:r>
            <a:endParaRPr/>
          </a:p>
          <a:p>
            <a:pPr marL="228600" lvl="0" indent="-228600" algn="l" rtl="0">
              <a:lnSpc>
                <a:spcPct val="90000"/>
              </a:lnSpc>
              <a:spcBef>
                <a:spcPts val="1000"/>
              </a:spcBef>
              <a:spcAft>
                <a:spcPts val="0"/>
              </a:spcAft>
              <a:buClr>
                <a:schemeClr val="dk1"/>
              </a:buClr>
              <a:buSzPts val="2800"/>
              <a:buChar char="•"/>
            </a:pPr>
            <a:r>
              <a:rPr lang="pt-BR"/>
              <a:t>443(HTTPS) – Protocolo TCP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a:t>
            </a:r>
            <a:endParaRPr/>
          </a:p>
        </p:txBody>
      </p:sp>
      <p:sp>
        <p:nvSpPr>
          <p:cNvPr id="160" name="Google Shape;16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pt-BR"/>
              <a:t>Para adicionar uma regra basta clicar em ADD (escolhendo se ficará acima ou abaixo das demais).</a:t>
            </a:r>
            <a:endParaRPr/>
          </a:p>
          <a:p>
            <a:pPr marL="228600" lvl="0" indent="-228600" algn="l" rtl="0">
              <a:lnSpc>
                <a:spcPct val="90000"/>
              </a:lnSpc>
              <a:spcBef>
                <a:spcPts val="1000"/>
              </a:spcBef>
              <a:spcAft>
                <a:spcPts val="0"/>
              </a:spcAft>
              <a:buClr>
                <a:schemeClr val="dk1"/>
              </a:buClr>
              <a:buSzPct val="100000"/>
              <a:buChar char="•"/>
            </a:pPr>
            <a:r>
              <a:rPr lang="pt-BR"/>
              <a:t>Escolha a Ação (Permissão, Bloqueio ou Rejeição), neste exemplo utilizaremos o bloqueio</a:t>
            </a:r>
            <a:endParaRPr/>
          </a:p>
          <a:p>
            <a:pPr marL="228600" lvl="0" indent="-228600" algn="l" rtl="0">
              <a:lnSpc>
                <a:spcPct val="90000"/>
              </a:lnSpc>
              <a:spcBef>
                <a:spcPts val="1000"/>
              </a:spcBef>
              <a:spcAft>
                <a:spcPts val="0"/>
              </a:spcAft>
              <a:buClr>
                <a:schemeClr val="dk1"/>
              </a:buClr>
              <a:buSzPct val="100000"/>
              <a:buChar char="•"/>
            </a:pPr>
            <a:r>
              <a:rPr lang="pt-BR"/>
              <a:t>Na interface usaremos a LAN</a:t>
            </a:r>
            <a:endParaRPr/>
          </a:p>
          <a:p>
            <a:pPr marL="228600" lvl="0" indent="-228600" algn="l" rtl="0">
              <a:lnSpc>
                <a:spcPct val="90000"/>
              </a:lnSpc>
              <a:spcBef>
                <a:spcPts val="1000"/>
              </a:spcBef>
              <a:spcAft>
                <a:spcPts val="0"/>
              </a:spcAft>
              <a:buClr>
                <a:schemeClr val="dk1"/>
              </a:buClr>
              <a:buSzPct val="100000"/>
              <a:buChar char="•"/>
            </a:pPr>
            <a:r>
              <a:rPr lang="pt-BR"/>
              <a:t>Endereço podemos utilizar ambos</a:t>
            </a:r>
            <a:endParaRPr/>
          </a:p>
          <a:p>
            <a:pPr marL="228600" lvl="0" indent="-228600" algn="l" rtl="0">
              <a:lnSpc>
                <a:spcPct val="90000"/>
              </a:lnSpc>
              <a:spcBef>
                <a:spcPts val="1000"/>
              </a:spcBef>
              <a:spcAft>
                <a:spcPts val="0"/>
              </a:spcAft>
              <a:buClr>
                <a:schemeClr val="dk1"/>
              </a:buClr>
              <a:buSzPct val="100000"/>
              <a:buChar char="•"/>
            </a:pPr>
            <a:r>
              <a:rPr lang="pt-BR"/>
              <a:t>Protocolo usaremos o TCP.</a:t>
            </a:r>
            <a:endParaRPr/>
          </a:p>
          <a:p>
            <a:pPr marL="228600" lvl="0" indent="-228600" algn="l" rtl="0">
              <a:lnSpc>
                <a:spcPct val="90000"/>
              </a:lnSpc>
              <a:spcBef>
                <a:spcPts val="1000"/>
              </a:spcBef>
              <a:spcAft>
                <a:spcPts val="0"/>
              </a:spcAft>
              <a:buClr>
                <a:schemeClr val="dk1"/>
              </a:buClr>
              <a:buSzPct val="100000"/>
              <a:buChar char="•"/>
            </a:pPr>
            <a:r>
              <a:rPr lang="pt-BR"/>
              <a:t>Em Destination usaremos a opção de “Single host or alias ” e colocaremos o facebook. Bloqueando a porta de HTTPS</a:t>
            </a:r>
            <a:endParaRPr/>
          </a:p>
          <a:p>
            <a:pPr marL="228600" lvl="0" indent="-228600" algn="l" rtl="0">
              <a:lnSpc>
                <a:spcPct val="90000"/>
              </a:lnSpc>
              <a:spcBef>
                <a:spcPts val="1000"/>
              </a:spcBef>
              <a:spcAft>
                <a:spcPts val="0"/>
              </a:spcAft>
              <a:buClr>
                <a:schemeClr val="dk1"/>
              </a:buClr>
              <a:buSzPct val="100000"/>
              <a:buChar char="•"/>
            </a:pPr>
            <a:r>
              <a:rPr lang="pt-BR"/>
              <a:t>E por fim marcaremos de extra para recebermos os logs para saber quem acessou.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a:t>
            </a:r>
            <a:endParaRPr/>
          </a:p>
        </p:txBody>
      </p:sp>
      <p:sp>
        <p:nvSpPr>
          <p:cNvPr id="166" name="Google Shape;16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Mais uma tópico importante, as regras tem ordem de prioridade, sendo que são lidas de cima para baixo</a:t>
            </a:r>
            <a:endParaRPr/>
          </a:p>
          <a:p>
            <a:pPr marL="228600" lvl="0" indent="-228600" algn="l" rtl="0">
              <a:lnSpc>
                <a:spcPct val="90000"/>
              </a:lnSpc>
              <a:spcBef>
                <a:spcPts val="1000"/>
              </a:spcBef>
              <a:spcAft>
                <a:spcPts val="0"/>
              </a:spcAft>
              <a:buClr>
                <a:schemeClr val="dk1"/>
              </a:buClr>
              <a:buSzPts val="2800"/>
              <a:buChar char="•"/>
            </a:pPr>
            <a:r>
              <a:rPr lang="pt-BR"/>
              <a:t>Ou seja, as regras que permitem acesso total a internet sempre devem permanecer abaixo das de bloqueio específicos.</a:t>
            </a:r>
            <a:endParaRPr/>
          </a:p>
          <a:p>
            <a:pPr marL="228600" lvl="0" indent="-228600" algn="l" rtl="0">
              <a:lnSpc>
                <a:spcPct val="90000"/>
              </a:lnSpc>
              <a:spcBef>
                <a:spcPts val="1000"/>
              </a:spcBef>
              <a:spcAft>
                <a:spcPts val="0"/>
              </a:spcAft>
              <a:buClr>
                <a:schemeClr val="dk1"/>
              </a:buClr>
              <a:buSzPts val="2800"/>
              <a:buChar char="•"/>
            </a:pPr>
            <a:r>
              <a:rPr lang="pt-BR"/>
              <a:t>Como na imagem a seguir:</a:t>
            </a:r>
            <a:endParaRPr/>
          </a:p>
        </p:txBody>
      </p:sp>
      <p:pic>
        <p:nvPicPr>
          <p:cNvPr id="167" name="Google Shape;167;p13"/>
          <p:cNvPicPr preferRelativeResize="0"/>
          <p:nvPr/>
        </p:nvPicPr>
        <p:blipFill rotWithShape="1">
          <a:blip r:embed="rId3">
            <a:alphaModFix/>
          </a:blip>
          <a:srcRect/>
          <a:stretch/>
        </p:blipFill>
        <p:spPr>
          <a:xfrm>
            <a:off x="838200" y="4001294"/>
            <a:ext cx="6629400" cy="2619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a:t>
            </a:r>
            <a:endParaRPr/>
          </a:p>
        </p:txBody>
      </p:sp>
      <p:sp>
        <p:nvSpPr>
          <p:cNvPr id="173" name="Google Shape;17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Uma vez salva, já estará valendo o bloqueio</a:t>
            </a:r>
            <a:endParaRPr/>
          </a:p>
          <a:p>
            <a:pPr marL="228600" lvl="0" indent="-228600" algn="l" rtl="0">
              <a:lnSpc>
                <a:spcPct val="90000"/>
              </a:lnSpc>
              <a:spcBef>
                <a:spcPts val="1000"/>
              </a:spcBef>
              <a:spcAft>
                <a:spcPts val="0"/>
              </a:spcAft>
              <a:buClr>
                <a:schemeClr val="dk1"/>
              </a:buClr>
              <a:buSzPts val="2800"/>
              <a:buChar char="•"/>
            </a:pPr>
            <a:r>
              <a:rPr lang="pt-BR"/>
              <a:t>Caso ainda esteja acessando, tente limpar o cache do navegador</a:t>
            </a:r>
            <a:endParaRPr/>
          </a:p>
        </p:txBody>
      </p:sp>
      <p:pic>
        <p:nvPicPr>
          <p:cNvPr id="174" name="Google Shape;174;p14"/>
          <p:cNvPicPr preferRelativeResize="0"/>
          <p:nvPr/>
        </p:nvPicPr>
        <p:blipFill rotWithShape="1">
          <a:blip r:embed="rId3">
            <a:alphaModFix/>
          </a:blip>
          <a:srcRect/>
          <a:stretch/>
        </p:blipFill>
        <p:spPr>
          <a:xfrm>
            <a:off x="838200" y="2837431"/>
            <a:ext cx="5943667" cy="39926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pt-BR"/>
              <a:t>Regras - exceções</a:t>
            </a:r>
            <a:endParaRPr/>
          </a:p>
        </p:txBody>
      </p:sp>
      <p:sp>
        <p:nvSpPr>
          <p:cNvPr id="180" name="Google Shape;180;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pic>
        <p:nvPicPr>
          <p:cNvPr id="181" name="Google Shape;181;p15" descr="Account exception Vector Icons free download in SVG, PNG Format"/>
          <p:cNvPicPr preferRelativeResize="0"/>
          <p:nvPr/>
        </p:nvPicPr>
        <p:blipFill rotWithShape="1">
          <a:blip r:embed="rId3">
            <a:alphaModFix/>
          </a:blip>
          <a:srcRect/>
          <a:stretch/>
        </p:blipFill>
        <p:spPr>
          <a:xfrm>
            <a:off x="3744936" y="387515"/>
            <a:ext cx="3447435" cy="34474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exceções</a:t>
            </a:r>
            <a:endParaRPr/>
          </a:p>
        </p:txBody>
      </p:sp>
      <p:sp>
        <p:nvSpPr>
          <p:cNvPr id="187" name="Google Shape;18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Também há a possibilidade de criar exceções para as regras criadas.</a:t>
            </a:r>
            <a:endParaRPr/>
          </a:p>
          <a:p>
            <a:pPr marL="228600" lvl="0" indent="-228600" algn="l" rtl="0">
              <a:lnSpc>
                <a:spcPct val="90000"/>
              </a:lnSpc>
              <a:spcBef>
                <a:spcPts val="1000"/>
              </a:spcBef>
              <a:spcAft>
                <a:spcPts val="0"/>
              </a:spcAft>
              <a:buClr>
                <a:schemeClr val="dk1"/>
              </a:buClr>
              <a:buSzPts val="2800"/>
              <a:buChar char="•"/>
            </a:pPr>
            <a:r>
              <a:rPr lang="pt-BR"/>
              <a:t>Neste exemplo iremos liberar apenas uma maquina via IP para que possua acesso ao facebook, que foi bloqueado anteriormente.</a:t>
            </a:r>
            <a:endParaRPr/>
          </a:p>
          <a:p>
            <a:pPr marL="228600" lvl="0" indent="-228600" algn="l" rtl="0">
              <a:lnSpc>
                <a:spcPct val="90000"/>
              </a:lnSpc>
              <a:spcBef>
                <a:spcPts val="1000"/>
              </a:spcBef>
              <a:spcAft>
                <a:spcPts val="0"/>
              </a:spcAft>
              <a:buClr>
                <a:schemeClr val="dk1"/>
              </a:buClr>
              <a:buSzPts val="2800"/>
              <a:buChar char="•"/>
            </a:pPr>
            <a:r>
              <a:rPr lang="pt-BR"/>
              <a:t>Primeiramente criaremos um Aliases com o IP do computador que será permitido.</a:t>
            </a:r>
            <a:endParaRPr/>
          </a:p>
        </p:txBody>
      </p:sp>
      <p:pic>
        <p:nvPicPr>
          <p:cNvPr id="188" name="Google Shape;188;p16"/>
          <p:cNvPicPr preferRelativeResize="0"/>
          <p:nvPr/>
        </p:nvPicPr>
        <p:blipFill rotWithShape="1">
          <a:blip r:embed="rId3">
            <a:alphaModFix/>
          </a:blip>
          <a:srcRect/>
          <a:stretch/>
        </p:blipFill>
        <p:spPr>
          <a:xfrm>
            <a:off x="984250" y="3996398"/>
            <a:ext cx="3506470" cy="2861602"/>
          </a:xfrm>
          <a:prstGeom prst="rect">
            <a:avLst/>
          </a:prstGeom>
          <a:noFill/>
          <a:ln>
            <a:noFill/>
          </a:ln>
        </p:spPr>
      </p:pic>
      <p:pic>
        <p:nvPicPr>
          <p:cNvPr id="189" name="Google Shape;189;p16"/>
          <p:cNvPicPr preferRelativeResize="0"/>
          <p:nvPr/>
        </p:nvPicPr>
        <p:blipFill rotWithShape="1">
          <a:blip r:embed="rId4">
            <a:alphaModFix/>
          </a:blip>
          <a:srcRect/>
          <a:stretch/>
        </p:blipFill>
        <p:spPr>
          <a:xfrm>
            <a:off x="5798820" y="4585494"/>
            <a:ext cx="2999740" cy="19514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exceções</a:t>
            </a:r>
            <a:endParaRPr/>
          </a:p>
        </p:txBody>
      </p:sp>
      <p:sp>
        <p:nvSpPr>
          <p:cNvPr id="195" name="Google Shape;195;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iremos criar uma nova regra na aba de LAN e deixaremos desse jeito:</a:t>
            </a:r>
            <a:endParaRPr/>
          </a:p>
        </p:txBody>
      </p:sp>
      <p:pic>
        <p:nvPicPr>
          <p:cNvPr id="196" name="Google Shape;196;p17"/>
          <p:cNvPicPr preferRelativeResize="0"/>
          <p:nvPr/>
        </p:nvPicPr>
        <p:blipFill rotWithShape="1">
          <a:blip r:embed="rId3">
            <a:alphaModFix/>
          </a:blip>
          <a:srcRect/>
          <a:stretch/>
        </p:blipFill>
        <p:spPr>
          <a:xfrm>
            <a:off x="1507490" y="2703830"/>
            <a:ext cx="6210300" cy="3848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exceções</a:t>
            </a:r>
            <a:endParaRPr/>
          </a:p>
        </p:txBody>
      </p:sp>
      <p:sp>
        <p:nvSpPr>
          <p:cNvPr id="202" name="Google Shape;202;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03" name="Google Shape;203;p18"/>
          <p:cNvPicPr preferRelativeResize="0"/>
          <p:nvPr/>
        </p:nvPicPr>
        <p:blipFill rotWithShape="1">
          <a:blip r:embed="rId3">
            <a:alphaModFix/>
          </a:blip>
          <a:srcRect/>
          <a:stretch/>
        </p:blipFill>
        <p:spPr>
          <a:xfrm>
            <a:off x="838200" y="1690688"/>
            <a:ext cx="8752840" cy="49351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exceções</a:t>
            </a:r>
            <a:endParaRPr/>
          </a:p>
        </p:txBody>
      </p:sp>
      <p:sp>
        <p:nvSpPr>
          <p:cNvPr id="209" name="Google Shape;209;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Pronto, agora o PC com IP selecionado estará com a possibilidade de acesso ao site bloqueado</a:t>
            </a:r>
            <a:endParaRPr/>
          </a:p>
        </p:txBody>
      </p:sp>
      <p:pic>
        <p:nvPicPr>
          <p:cNvPr id="210" name="Google Shape;210;p19"/>
          <p:cNvPicPr preferRelativeResize="0"/>
          <p:nvPr/>
        </p:nvPicPr>
        <p:blipFill rotWithShape="1">
          <a:blip r:embed="rId3">
            <a:alphaModFix/>
          </a:blip>
          <a:srcRect/>
          <a:stretch/>
        </p:blipFill>
        <p:spPr>
          <a:xfrm>
            <a:off x="838200" y="2705100"/>
            <a:ext cx="6276975" cy="4152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pt-BR"/>
              <a:t>Regras - Agendamento</a:t>
            </a:r>
            <a:endParaRPr/>
          </a:p>
        </p:txBody>
      </p:sp>
      <p:sp>
        <p:nvSpPr>
          <p:cNvPr id="216" name="Google Shape;216;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pic>
        <p:nvPicPr>
          <p:cNvPr id="217" name="Google Shape;217;p20" descr="Agendamento de Exames – Hospital Auxiliadora"/>
          <p:cNvPicPr preferRelativeResize="0"/>
          <p:nvPr/>
        </p:nvPicPr>
        <p:blipFill rotWithShape="1">
          <a:blip r:embed="rId3">
            <a:alphaModFix/>
          </a:blip>
          <a:srcRect/>
          <a:stretch/>
        </p:blipFill>
        <p:spPr>
          <a:xfrm>
            <a:off x="3117140" y="340857"/>
            <a:ext cx="4798562" cy="36042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a:t>
            </a:r>
            <a:endParaRPr/>
          </a:p>
        </p:txBody>
      </p:sp>
      <p:sp>
        <p:nvSpPr>
          <p:cNvPr id="223" name="Google Shape;223;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É um recurso muito útil para habilitar determinadas regras em apenas algum momento.</a:t>
            </a:r>
            <a:endParaRPr/>
          </a:p>
          <a:p>
            <a:pPr marL="228600" lvl="0" indent="-228600" algn="l" rtl="0">
              <a:lnSpc>
                <a:spcPct val="90000"/>
              </a:lnSpc>
              <a:spcBef>
                <a:spcPts val="1000"/>
              </a:spcBef>
              <a:spcAft>
                <a:spcPts val="0"/>
              </a:spcAft>
              <a:buClr>
                <a:schemeClr val="dk1"/>
              </a:buClr>
              <a:buSzPts val="2800"/>
              <a:buChar char="•"/>
            </a:pPr>
            <a:r>
              <a:rPr lang="pt-BR"/>
              <a:t>Por exemplo dar acesso há sites bloqueados apenas no horário do almoço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a:t>
            </a:r>
            <a:endParaRPr/>
          </a:p>
        </p:txBody>
      </p:sp>
      <p:sp>
        <p:nvSpPr>
          <p:cNvPr id="229" name="Google Shape;229;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Como exemplo iremos liberar o facebook apenas no almoço.</a:t>
            </a:r>
            <a:endParaRPr/>
          </a:p>
          <a:p>
            <a:pPr marL="228600" lvl="0" indent="-228600" algn="l" rtl="0">
              <a:lnSpc>
                <a:spcPct val="90000"/>
              </a:lnSpc>
              <a:spcBef>
                <a:spcPts val="1000"/>
              </a:spcBef>
              <a:spcAft>
                <a:spcPts val="0"/>
              </a:spcAft>
              <a:buClr>
                <a:schemeClr val="dk1"/>
              </a:buClr>
              <a:buSzPts val="2800"/>
              <a:buChar char="•"/>
            </a:pPr>
            <a:r>
              <a:rPr lang="pt-BR"/>
              <a:t>Para isso vamos em Firewall &gt; Schadules e clique em ADD</a:t>
            </a:r>
            <a:endParaRPr/>
          </a:p>
        </p:txBody>
      </p:sp>
      <p:pic>
        <p:nvPicPr>
          <p:cNvPr id="230" name="Google Shape;230;p22"/>
          <p:cNvPicPr preferRelativeResize="0"/>
          <p:nvPr/>
        </p:nvPicPr>
        <p:blipFill rotWithShape="1">
          <a:blip r:embed="rId3">
            <a:alphaModFix/>
          </a:blip>
          <a:srcRect/>
          <a:stretch/>
        </p:blipFill>
        <p:spPr>
          <a:xfrm>
            <a:off x="1316672" y="3158331"/>
            <a:ext cx="8180806" cy="214518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a:t>
            </a:r>
            <a:endParaRPr/>
          </a:p>
        </p:txBody>
      </p:sp>
      <p:sp>
        <p:nvSpPr>
          <p:cNvPr id="236" name="Google Shape;236;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basta customizar a seu critério, escolhendo o mês, dias e horário que serão aplicadas tal especificações</a:t>
            </a:r>
            <a:endParaRPr/>
          </a:p>
        </p:txBody>
      </p:sp>
      <p:pic>
        <p:nvPicPr>
          <p:cNvPr id="237" name="Google Shape;237;p23"/>
          <p:cNvPicPr preferRelativeResize="0"/>
          <p:nvPr/>
        </p:nvPicPr>
        <p:blipFill rotWithShape="1">
          <a:blip r:embed="rId3">
            <a:alphaModFix/>
          </a:blip>
          <a:srcRect/>
          <a:stretch/>
        </p:blipFill>
        <p:spPr>
          <a:xfrm>
            <a:off x="1106805" y="2766087"/>
            <a:ext cx="4643755" cy="38347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a:t>
            </a:r>
            <a:endParaRPr/>
          </a:p>
        </p:txBody>
      </p:sp>
      <p:sp>
        <p:nvSpPr>
          <p:cNvPr id="243" name="Google Shape;243;p24"/>
          <p:cNvSpPr txBox="1">
            <a:spLocks noGrp="1"/>
          </p:cNvSpPr>
          <p:nvPr>
            <p:ph type="body" idx="1"/>
          </p:nvPr>
        </p:nvSpPr>
        <p:spPr>
          <a:xfrm>
            <a:off x="838200" y="1690688"/>
            <a:ext cx="1068324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é necessário criar uma nova regra, conforme as imagens abaixo:</a:t>
            </a:r>
            <a:endParaRPr/>
          </a:p>
        </p:txBody>
      </p:sp>
      <p:pic>
        <p:nvPicPr>
          <p:cNvPr id="244" name="Google Shape;244;p24"/>
          <p:cNvPicPr preferRelativeResize="0"/>
          <p:nvPr/>
        </p:nvPicPr>
        <p:blipFill rotWithShape="1">
          <a:blip r:embed="rId3">
            <a:alphaModFix/>
          </a:blip>
          <a:srcRect/>
          <a:stretch/>
        </p:blipFill>
        <p:spPr>
          <a:xfrm>
            <a:off x="838200" y="2073954"/>
            <a:ext cx="6192520" cy="45910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a:t>
            </a:r>
            <a:endParaRPr/>
          </a:p>
        </p:txBody>
      </p:sp>
      <p:pic>
        <p:nvPicPr>
          <p:cNvPr id="250" name="Google Shape;250;p25"/>
          <p:cNvPicPr preferRelativeResize="0">
            <a:picLocks noGrp="1"/>
          </p:cNvPicPr>
          <p:nvPr>
            <p:ph type="body" idx="1"/>
          </p:nvPr>
        </p:nvPicPr>
        <p:blipFill rotWithShape="1">
          <a:blip r:embed="rId3">
            <a:alphaModFix/>
          </a:blip>
          <a:srcRect/>
          <a:stretch/>
        </p:blipFill>
        <p:spPr>
          <a:xfrm>
            <a:off x="3314700" y="2048669"/>
            <a:ext cx="5562600" cy="3905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a:t>
            </a:r>
            <a:endParaRPr/>
          </a:p>
        </p:txBody>
      </p:sp>
      <p:sp>
        <p:nvSpPr>
          <p:cNvPr id="256" name="Google Shape;256;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clique em permissões avançadas e vá até Schedule e selecione o que criamos anteriormente.</a:t>
            </a:r>
            <a:endParaRPr/>
          </a:p>
        </p:txBody>
      </p:sp>
      <p:pic>
        <p:nvPicPr>
          <p:cNvPr id="257" name="Google Shape;257;p26"/>
          <p:cNvPicPr preferRelativeResize="0"/>
          <p:nvPr/>
        </p:nvPicPr>
        <p:blipFill rotWithShape="1">
          <a:blip r:embed="rId3">
            <a:alphaModFix/>
          </a:blip>
          <a:srcRect/>
          <a:stretch/>
        </p:blipFill>
        <p:spPr>
          <a:xfrm>
            <a:off x="1056957" y="5242560"/>
            <a:ext cx="8937113" cy="934403"/>
          </a:xfrm>
          <a:prstGeom prst="rect">
            <a:avLst/>
          </a:prstGeom>
          <a:noFill/>
          <a:ln>
            <a:noFill/>
          </a:ln>
        </p:spPr>
      </p:pic>
      <p:pic>
        <p:nvPicPr>
          <p:cNvPr id="258" name="Google Shape;258;p26"/>
          <p:cNvPicPr preferRelativeResize="0"/>
          <p:nvPr/>
        </p:nvPicPr>
        <p:blipFill rotWithShape="1">
          <a:blip r:embed="rId4">
            <a:alphaModFix/>
          </a:blip>
          <a:srcRect/>
          <a:stretch/>
        </p:blipFill>
        <p:spPr>
          <a:xfrm>
            <a:off x="1056957" y="2754948"/>
            <a:ext cx="5638800" cy="2352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Regras – Agendamento </a:t>
            </a:r>
            <a:endParaRPr/>
          </a:p>
        </p:txBody>
      </p:sp>
      <p:sp>
        <p:nvSpPr>
          <p:cNvPr id="264" name="Google Shape;264;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Feito, agora a regra está ativa e entrará em loop todo o dia no horário do almoço.</a:t>
            </a:r>
            <a:endParaRPr/>
          </a:p>
        </p:txBody>
      </p:sp>
      <p:pic>
        <p:nvPicPr>
          <p:cNvPr id="265" name="Google Shape;265;p27"/>
          <p:cNvPicPr preferRelativeResize="0"/>
          <p:nvPr/>
        </p:nvPicPr>
        <p:blipFill rotWithShape="1">
          <a:blip r:embed="rId3">
            <a:alphaModFix/>
          </a:blip>
          <a:srcRect/>
          <a:stretch/>
        </p:blipFill>
        <p:spPr>
          <a:xfrm>
            <a:off x="838199" y="2863502"/>
            <a:ext cx="4684429" cy="3659217"/>
          </a:xfrm>
          <a:prstGeom prst="rect">
            <a:avLst/>
          </a:prstGeom>
          <a:noFill/>
          <a:ln>
            <a:noFill/>
          </a:ln>
        </p:spPr>
      </p:pic>
    </p:spTree>
  </p:cSld>
  <p:clrMapOvr>
    <a:masterClrMapping/>
  </p:clrMapOvr>
</p:sld>
</file>

<file path=ppt/theme/theme1.xml><?xml version="1.0" encoding="utf-8"?>
<a:theme xmlns:a="http://schemas.openxmlformats.org/drawingml/2006/main" name="senactema">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837</Words>
  <Application>Microsoft Office PowerPoint</Application>
  <PresentationFormat>Widescreen</PresentationFormat>
  <Paragraphs>83</Paragraphs>
  <Slides>27</Slides>
  <Notes>27</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27</vt:i4>
      </vt:variant>
    </vt:vector>
  </HeadingPairs>
  <TitlesOfParts>
    <vt:vector size="30" baseType="lpstr">
      <vt:lpstr>Arial</vt:lpstr>
      <vt:lpstr>Calibri</vt:lpstr>
      <vt:lpstr>senactema</vt:lpstr>
      <vt:lpstr>Regras de Firewall</vt:lpstr>
      <vt:lpstr>Sobre </vt:lpstr>
      <vt:lpstr>Aliases </vt:lpstr>
      <vt:lpstr>Aliases </vt:lpstr>
      <vt:lpstr>Aliases</vt:lpstr>
      <vt:lpstr>Aliases</vt:lpstr>
      <vt:lpstr>Aliases – bloqueio de sites</vt:lpstr>
      <vt:lpstr>Aliases – bloqueio de portas</vt:lpstr>
      <vt:lpstr>Regras</vt:lpstr>
      <vt:lpstr>Regras</vt:lpstr>
      <vt:lpstr>Regras</vt:lpstr>
      <vt:lpstr>Regras</vt:lpstr>
      <vt:lpstr>Regras</vt:lpstr>
      <vt:lpstr>Regras</vt:lpstr>
      <vt:lpstr>Regras - exceções</vt:lpstr>
      <vt:lpstr>Regras - exceções</vt:lpstr>
      <vt:lpstr>Regras - exceções</vt:lpstr>
      <vt:lpstr>Regras - exceções</vt:lpstr>
      <vt:lpstr>Regras - exceções</vt:lpstr>
      <vt:lpstr>Regras - Agendamento</vt:lpstr>
      <vt:lpstr>Regras - Agendamento</vt:lpstr>
      <vt:lpstr>Regras - Agendamento</vt:lpstr>
      <vt:lpstr>Regras - Agendamento</vt:lpstr>
      <vt:lpstr>Regras - Agendamento</vt:lpstr>
      <vt:lpstr>Regras - Agendamento</vt:lpstr>
      <vt:lpstr>Regras - Agendamento</vt:lpstr>
      <vt:lpstr>Regras – Agendamento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Hugo X</dc:creator>
  <cp:lastModifiedBy>GUILHERME CORREA RIBEIRO</cp:lastModifiedBy>
  <cp:revision>1</cp:revision>
  <dcterms:created xsi:type="dcterms:W3CDTF">2022-04-27T20:51:45Z</dcterms:created>
  <dcterms:modified xsi:type="dcterms:W3CDTF">2024-07-14T01:32:05Z</dcterms:modified>
</cp:coreProperties>
</file>